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7" r:id="rId6"/>
    <p:sldId id="260" r:id="rId7"/>
    <p:sldId id="261" r:id="rId8"/>
    <p:sldId id="268" r:id="rId9"/>
    <p:sldId id="262" r:id="rId10"/>
    <p:sldId id="263" r:id="rId11"/>
    <p:sldId id="264" r:id="rId12"/>
    <p:sldId id="269" r:id="rId13"/>
    <p:sldId id="270" r:id="rId14"/>
    <p:sldId id="274" r:id="rId15"/>
    <p:sldId id="277" r:id="rId16"/>
    <p:sldId id="275" r:id="rId17"/>
    <p:sldId id="276" r:id="rId18"/>
    <p:sldId id="285" r:id="rId19"/>
    <p:sldId id="281" r:id="rId20"/>
    <p:sldId id="282" r:id="rId21"/>
    <p:sldId id="283" r:id="rId22"/>
    <p:sldId id="284" r:id="rId23"/>
    <p:sldId id="273" r:id="rId24"/>
    <p:sldId id="2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3/10/2026</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585864"/>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49648603"/>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419441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5752816"/>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76649456"/>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418482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0174663"/>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222605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60244861"/>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5870800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3/10/2026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7955773"/>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3/10/2026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nltk.org/" TargetMode="External"/><Relationship Id="rId2" Type="http://schemas.openxmlformats.org/officeDocument/2006/relationships/hyperlink" Target="https://www.python.org/" TargetMode="External"/><Relationship Id="rId1" Type="http://schemas.openxmlformats.org/officeDocument/2006/relationships/slideLayout" Target="../slideLayouts/slideLayout7.xml"/><Relationship Id="rId4" Type="http://schemas.openxmlformats.org/officeDocument/2006/relationships/hyperlink" Target="https://en.wikipedia.org/wiki/Random_fores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1809265-7C86-5766-B2EF-91AB0661D18D}"/>
              </a:ext>
            </a:extLst>
          </p:cNvPr>
          <p:cNvSpPr>
            <a:spLocks noGrp="1"/>
          </p:cNvSpPr>
          <p:nvPr>
            <p:ph type="ctrTitle"/>
          </p:nvPr>
        </p:nvSpPr>
        <p:spPr>
          <a:xfrm>
            <a:off x="2313757" y="1248521"/>
            <a:ext cx="7681452" cy="811825"/>
          </a:xfrm>
        </p:spPr>
        <p:txBody>
          <a:bodyPr>
            <a:noAutofit/>
          </a:bodyPr>
          <a:lstStyle/>
          <a:p>
            <a:r>
              <a:rPr lang="en-US" sz="4000" b="1" dirty="0">
                <a:ln w="0"/>
                <a:effectLst>
                  <a:reflection blurRad="6350" stA="53000" endA="300" endPos="35500" dir="5400000" sy="-90000" algn="bl" rotWithShape="0"/>
                </a:effectLst>
                <a:latin typeface="Bookman Old Style" panose="02050604050505020204" pitchFamily="18" charset="0"/>
              </a:rPr>
              <a:t>ACE </a:t>
            </a:r>
            <a:r>
              <a:rPr lang="en-US" sz="4000" b="1" kern="100" dirty="0">
                <a:ln w="0"/>
                <a:effectLst>
                  <a:reflection blurRad="6350" stA="53000" endA="300" endPos="35500" dir="5400000" sy="-90000" algn="bl" rotWithShape="0"/>
                </a:effectLst>
                <a:latin typeface="Bookman Old Style" panose="02050604050505020204" pitchFamily="18" charset="0"/>
                <a:ea typeface="Aptos" panose="020B0004020202020204" pitchFamily="34" charset="0"/>
                <a:cs typeface="Times New Roman" panose="02020603050405020304" pitchFamily="18" charset="0"/>
              </a:rPr>
              <a:t>Engineering College</a:t>
            </a:r>
            <a:br>
              <a:rPr lang="en-IN" sz="4000" b="1" kern="100" dirty="0">
                <a:ln w="0"/>
                <a:effectLst>
                  <a:reflection blurRad="6350" stA="53000" endA="300" endPos="35500" dir="5400000" sy="-90000" algn="bl" rotWithShape="0"/>
                </a:effectLst>
                <a:latin typeface="Bookman Old Style" panose="02050604050505020204" pitchFamily="18" charset="0"/>
                <a:ea typeface="Aptos" panose="020B0004020202020204" pitchFamily="34" charset="0"/>
                <a:cs typeface="Times New Roman" panose="02020603050405020304" pitchFamily="18" charset="0"/>
              </a:rPr>
            </a:br>
            <a:endParaRPr lang="en-IN" sz="4000" b="1" dirty="0">
              <a:ln w="0"/>
              <a:effectLst>
                <a:reflection blurRad="6350" stA="53000" endA="300" endPos="35500" dir="5400000" sy="-90000" algn="bl" rotWithShape="0"/>
              </a:effectLst>
              <a:latin typeface="Bookman Old Style" panose="02050604050505020204" pitchFamily="18" charset="0"/>
            </a:endParaRPr>
          </a:p>
        </p:txBody>
      </p:sp>
      <p:sp>
        <p:nvSpPr>
          <p:cNvPr id="13" name="Subtitle 2">
            <a:extLst>
              <a:ext uri="{FF2B5EF4-FFF2-40B4-BE49-F238E27FC236}">
                <a16:creationId xmlns:a16="http://schemas.microsoft.com/office/drawing/2014/main" id="{8046EA35-0E28-0208-A63E-A18104D687FF}"/>
              </a:ext>
            </a:extLst>
          </p:cNvPr>
          <p:cNvSpPr>
            <a:spLocks noGrp="1"/>
          </p:cNvSpPr>
          <p:nvPr>
            <p:ph type="subTitle" idx="1"/>
          </p:nvPr>
        </p:nvSpPr>
        <p:spPr>
          <a:xfrm>
            <a:off x="2313758" y="2562001"/>
            <a:ext cx="6515970" cy="751019"/>
          </a:xfrm>
        </p:spPr>
        <p:txBody>
          <a:bodyPr>
            <a:normAutofit/>
          </a:bodyPr>
          <a:lstStyle/>
          <a:p>
            <a:r>
              <a:rPr lang="en-IN" sz="2400" b="1" dirty="0">
                <a:solidFill>
                  <a:srgbClr val="FF0000"/>
                </a:solidFill>
                <a:latin typeface="Times New Roman" panose="02020603050405020304" pitchFamily="18" charset="0"/>
                <a:cs typeface="Times New Roman" panose="02020603050405020304" pitchFamily="18" charset="0"/>
              </a:rPr>
              <a:t>SENTIMENT ANALYSIS OF TWITTER DATA</a:t>
            </a:r>
          </a:p>
        </p:txBody>
      </p:sp>
      <p:sp>
        <p:nvSpPr>
          <p:cNvPr id="15" name="TextBox 14">
            <a:extLst>
              <a:ext uri="{FF2B5EF4-FFF2-40B4-BE49-F238E27FC236}">
                <a16:creationId xmlns:a16="http://schemas.microsoft.com/office/drawing/2014/main" id="{DE4C91ED-A2CC-AFFA-4BF8-552007EE767D}"/>
              </a:ext>
            </a:extLst>
          </p:cNvPr>
          <p:cNvSpPr txBox="1"/>
          <p:nvPr/>
        </p:nvSpPr>
        <p:spPr>
          <a:xfrm>
            <a:off x="2920538" y="1569338"/>
            <a:ext cx="6647836" cy="359714"/>
          </a:xfrm>
          <a:prstGeom prst="rect">
            <a:avLst/>
          </a:prstGeom>
          <a:noFill/>
        </p:spPr>
        <p:txBody>
          <a:bodyPr wrap="square" rtlCol="0">
            <a:spAutoFit/>
          </a:bodyPr>
          <a:lstStyle/>
          <a:p>
            <a:pPr algn="ctr">
              <a:lnSpc>
                <a:spcPct val="115000"/>
              </a:lnSpc>
              <a:spcAft>
                <a:spcPts val="800"/>
              </a:spcAft>
            </a:pPr>
            <a:r>
              <a:rPr lang="en-US" sz="1600" kern="100" dirty="0" err="1">
                <a:ln w="0"/>
                <a:solidFill>
                  <a:srgbClr val="000000"/>
                </a:solidFill>
                <a:effectLst>
                  <a:reflection blurRad="6350" stA="53000" endA="300" endPos="35500" dir="5400000" sy="-90000" algn="bl" rotWithShape="0"/>
                </a:effectLst>
                <a:latin typeface="Times New Roman" panose="02020603050405020304" pitchFamily="18" charset="0"/>
                <a:ea typeface="Aptos" panose="020B0004020202020204" pitchFamily="34" charset="0"/>
                <a:cs typeface="Times New Roman" panose="02020603050405020304" pitchFamily="18" charset="0"/>
              </a:rPr>
              <a:t>Ankushapur</a:t>
            </a:r>
            <a:r>
              <a:rPr lang="en-US" sz="1600" kern="100" dirty="0">
                <a:ln w="0"/>
                <a:solidFill>
                  <a:srgbClr val="000000"/>
                </a:solidFill>
                <a:effectLst>
                  <a:reflection blurRad="6350" stA="53000" endA="300" endPos="35500" dir="5400000" sy="-90000" algn="bl" rotWithShape="0"/>
                </a:effectLst>
                <a:latin typeface="Times New Roman" panose="02020603050405020304" pitchFamily="18" charset="0"/>
                <a:ea typeface="Aptos" panose="020B0004020202020204" pitchFamily="34" charset="0"/>
                <a:cs typeface="Times New Roman" panose="02020603050405020304" pitchFamily="18" charset="0"/>
              </a:rPr>
              <a:t> (v), </a:t>
            </a:r>
            <a:r>
              <a:rPr lang="en-US" sz="1600" kern="100" dirty="0" err="1">
                <a:ln w="0"/>
                <a:solidFill>
                  <a:srgbClr val="000000"/>
                </a:solidFill>
                <a:effectLst>
                  <a:reflection blurRad="6350" stA="53000" endA="300" endPos="35500" dir="5400000" sy="-90000" algn="bl" rotWithShape="0"/>
                </a:effectLst>
                <a:latin typeface="Times New Roman" panose="02020603050405020304" pitchFamily="18" charset="0"/>
                <a:ea typeface="Aptos" panose="020B0004020202020204" pitchFamily="34" charset="0"/>
                <a:cs typeface="Times New Roman" panose="02020603050405020304" pitchFamily="18" charset="0"/>
              </a:rPr>
              <a:t>Ghatkesar</a:t>
            </a:r>
            <a:r>
              <a:rPr lang="en-US" sz="1600" kern="100" dirty="0">
                <a:ln w="0"/>
                <a:solidFill>
                  <a:srgbClr val="000000"/>
                </a:solidFill>
                <a:effectLst>
                  <a:reflection blurRad="6350" stA="53000" endA="300" endPos="35500" dir="5400000" sy="-90000" algn="bl" rotWithShape="0"/>
                </a:effectLst>
                <a:latin typeface="Times New Roman" panose="02020603050405020304" pitchFamily="18" charset="0"/>
                <a:ea typeface="Aptos" panose="020B0004020202020204" pitchFamily="34" charset="0"/>
                <a:cs typeface="Times New Roman" panose="02020603050405020304" pitchFamily="18" charset="0"/>
              </a:rPr>
              <a:t>(M), </a:t>
            </a:r>
            <a:r>
              <a:rPr lang="en-US" sz="1600" kern="100" dirty="0" err="1">
                <a:ln w="0"/>
                <a:solidFill>
                  <a:srgbClr val="000000"/>
                </a:solidFill>
                <a:effectLst>
                  <a:reflection blurRad="6350" stA="53000" endA="300" endPos="35500" dir="5400000" sy="-90000" algn="bl" rotWithShape="0"/>
                </a:effectLst>
                <a:latin typeface="Times New Roman" panose="02020603050405020304" pitchFamily="18" charset="0"/>
                <a:ea typeface="Aptos" panose="020B0004020202020204" pitchFamily="34" charset="0"/>
                <a:cs typeface="Times New Roman" panose="02020603050405020304" pitchFamily="18" charset="0"/>
              </a:rPr>
              <a:t>Medchal</a:t>
            </a:r>
            <a:r>
              <a:rPr lang="en-US" sz="1600" kern="100" dirty="0">
                <a:ln w="0"/>
                <a:solidFill>
                  <a:srgbClr val="000000"/>
                </a:solidFill>
                <a:effectLst>
                  <a:reflection blurRad="6350" stA="53000" endA="300" endPos="35500" dir="5400000" sy="-90000" algn="bl" rotWithShape="0"/>
                </a:effectLst>
                <a:latin typeface="Times New Roman" panose="02020603050405020304" pitchFamily="18" charset="0"/>
                <a:ea typeface="Aptos" panose="020B0004020202020204" pitchFamily="34" charset="0"/>
                <a:cs typeface="Times New Roman" panose="02020603050405020304" pitchFamily="18" charset="0"/>
              </a:rPr>
              <a:t> Dist-501301</a:t>
            </a:r>
            <a:endParaRPr lang="en-IN" sz="1600" kern="100" dirty="0">
              <a:ln w="0"/>
              <a:solidFill>
                <a:srgbClr val="000000"/>
              </a:solidFill>
              <a:effectLst>
                <a:reflection blurRad="6350" stA="53000" endA="300" endPos="35500" dir="5400000" sy="-90000" algn="bl" rotWithShape="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22C2ED33-7DD2-BBE7-4FAA-0FD944C0513C}"/>
              </a:ext>
            </a:extLst>
          </p:cNvPr>
          <p:cNvSpPr txBox="1"/>
          <p:nvPr/>
        </p:nvSpPr>
        <p:spPr>
          <a:xfrm>
            <a:off x="641554" y="4877324"/>
            <a:ext cx="3165987" cy="369332"/>
          </a:xfrm>
          <a:prstGeom prst="rect">
            <a:avLst/>
          </a:prstGeom>
          <a:noFill/>
        </p:spPr>
        <p:txBody>
          <a:bodyPr wrap="square" rtlCol="0">
            <a:spAutoFit/>
          </a:bodyPr>
          <a:lstStyle/>
          <a:p>
            <a:r>
              <a:rPr lang="en-IN" sz="1800" b="1" dirty="0">
                <a:solidFill>
                  <a:srgbClr val="00B0F0"/>
                </a:solidFill>
                <a:effectLst/>
                <a:latin typeface="Times New Roman" panose="02020603050405020304" pitchFamily="18" charset="0"/>
                <a:ea typeface="Times New Roman" panose="02020603050405020304" pitchFamily="18" charset="0"/>
                <a:cs typeface="Times New Roman" panose="02020603050405020304" pitchFamily="18" charset="0"/>
              </a:rPr>
              <a:t>Internal </a:t>
            </a:r>
            <a:r>
              <a:rPr lang="en-IN"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Guide</a:t>
            </a:r>
            <a:endParaRPr lang="en-IN" dirty="0">
              <a:solidFill>
                <a:srgbClr val="00B0F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9620DA5-EB6E-6F8B-6F70-A2BB508D3D08}"/>
              </a:ext>
            </a:extLst>
          </p:cNvPr>
          <p:cNvSpPr txBox="1"/>
          <p:nvPr/>
        </p:nvSpPr>
        <p:spPr>
          <a:xfrm>
            <a:off x="7219333" y="3564352"/>
            <a:ext cx="3333135" cy="369332"/>
          </a:xfrm>
          <a:prstGeom prst="rect">
            <a:avLst/>
          </a:prstGeom>
          <a:noFill/>
        </p:spPr>
        <p:txBody>
          <a:bodyPr wrap="square" rtlCol="0">
            <a:spAutoFit/>
          </a:bodyPr>
          <a:lstStyle/>
          <a:p>
            <a:r>
              <a:rPr lang="en-IN" sz="1800" b="1" dirty="0">
                <a:solidFill>
                  <a:srgbClr val="00B0F0"/>
                </a:solidFill>
                <a:effectLst/>
                <a:latin typeface="Times New Roman" panose="02020603050405020304" pitchFamily="18" charset="0"/>
                <a:ea typeface="Times New Roman" panose="02020603050405020304" pitchFamily="18" charset="0"/>
              </a:rPr>
              <a:t>Presented by: </a:t>
            </a:r>
            <a:endParaRPr lang="en-IN" dirty="0">
              <a:solidFill>
                <a:srgbClr val="00B0F0"/>
              </a:solidFill>
            </a:endParaRPr>
          </a:p>
        </p:txBody>
      </p:sp>
      <p:sp>
        <p:nvSpPr>
          <p:cNvPr id="18" name="TextBox 17">
            <a:extLst>
              <a:ext uri="{FF2B5EF4-FFF2-40B4-BE49-F238E27FC236}">
                <a16:creationId xmlns:a16="http://schemas.microsoft.com/office/drawing/2014/main" id="{3BAFE397-59E2-CA20-9E60-D86890D25D7A}"/>
              </a:ext>
            </a:extLst>
          </p:cNvPr>
          <p:cNvSpPr txBox="1"/>
          <p:nvPr/>
        </p:nvSpPr>
        <p:spPr>
          <a:xfrm>
            <a:off x="6754761" y="4027951"/>
            <a:ext cx="5064227" cy="2350900"/>
          </a:xfrm>
          <a:prstGeom prst="rect">
            <a:avLst/>
          </a:prstGeom>
          <a:noFill/>
        </p:spPr>
        <p:txBody>
          <a:bodyPr wrap="square" rtlCol="0">
            <a:spAutoFit/>
          </a:bodyPr>
          <a:lstStyle/>
          <a:p>
            <a:pPr marL="342900" indent="-342900" algn="just">
              <a:lnSpc>
                <a:spcPct val="150000"/>
              </a:lnSpc>
              <a:spcAft>
                <a:spcPts val="800"/>
              </a:spcAft>
              <a:buAutoNum type="arabicPeriod"/>
            </a:pPr>
            <a:r>
              <a:rPr lang="en-IN" sz="1600" dirty="0" err="1">
                <a:latin typeface="Times New Roman" panose="02020603050405020304" pitchFamily="18" charset="0"/>
                <a:cs typeface="Times New Roman" panose="02020603050405020304" pitchFamily="18" charset="0"/>
              </a:rPr>
              <a:t>Pamulaparthi</a:t>
            </a:r>
            <a:r>
              <a:rPr lang="en-IN" sz="1600" dirty="0">
                <a:latin typeface="Times New Roman" panose="02020603050405020304" pitchFamily="18" charset="0"/>
                <a:cs typeface="Times New Roman" panose="02020603050405020304" pitchFamily="18" charset="0"/>
              </a:rPr>
              <a:t> Sai Nithin               (23AG1A67B2)</a:t>
            </a:r>
          </a:p>
          <a:p>
            <a:pPr algn="just">
              <a:lnSpc>
                <a:spcPct val="150000"/>
              </a:lnSpc>
              <a:spcAft>
                <a:spcPts val="8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2.    </a:t>
            </a:r>
            <a:r>
              <a:rPr lang="en-IN" sz="1600" dirty="0" err="1">
                <a:latin typeface="Times New Roman" panose="02020603050405020304" pitchFamily="18" charset="0"/>
                <a:cs typeface="Times New Roman" panose="02020603050405020304" pitchFamily="18" charset="0"/>
              </a:rPr>
              <a:t>Muniganam</a:t>
            </a:r>
            <a:r>
              <a:rPr lang="en-IN" sz="1600" dirty="0">
                <a:latin typeface="Times New Roman" panose="02020603050405020304" pitchFamily="18" charset="0"/>
                <a:cs typeface="Times New Roman" panose="02020603050405020304" pitchFamily="18" charset="0"/>
              </a:rPr>
              <a:t> Akshitha                  (23AG1A67A7) </a:t>
            </a:r>
          </a:p>
          <a:p>
            <a:pPr algn="just">
              <a:lnSpc>
                <a:spcPct val="150000"/>
              </a:lnSpc>
              <a:spcAft>
                <a:spcPts val="8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3.    </a:t>
            </a:r>
            <a:r>
              <a:rPr lang="en-IN" sz="1600" dirty="0" err="1">
                <a:latin typeface="Times New Roman" panose="02020603050405020304" pitchFamily="18" charset="0"/>
                <a:cs typeface="Times New Roman" panose="02020603050405020304" pitchFamily="18" charset="0"/>
              </a:rPr>
              <a:t>Godishala</a:t>
            </a:r>
            <a:r>
              <a:rPr lang="en-IN" sz="1600" dirty="0">
                <a:latin typeface="Times New Roman" panose="02020603050405020304" pitchFamily="18" charset="0"/>
                <a:cs typeface="Times New Roman" panose="02020603050405020304" pitchFamily="18" charset="0"/>
              </a:rPr>
              <a:t> Venkataramana           (23AG1A6787)</a:t>
            </a:r>
          </a:p>
          <a:p>
            <a:pPr marL="342900" indent="-342900" algn="just">
              <a:lnSpc>
                <a:spcPct val="150000"/>
              </a:lnSpc>
              <a:spcAft>
                <a:spcPts val="800"/>
              </a:spcAft>
              <a:buAutoNum type="arabicPeriod" startAt="4"/>
            </a:pPr>
            <a:r>
              <a:rPr lang="en-IN" sz="1600" dirty="0" err="1">
                <a:latin typeface="Times New Roman" panose="02020603050405020304" pitchFamily="18" charset="0"/>
                <a:cs typeface="Times New Roman" panose="02020603050405020304" pitchFamily="18" charset="0"/>
              </a:rPr>
              <a:t>Gundoju</a:t>
            </a:r>
            <a:r>
              <a:rPr lang="en-IN" sz="1600" dirty="0">
                <a:latin typeface="Times New Roman" panose="02020603050405020304" pitchFamily="18" charset="0"/>
                <a:cs typeface="Times New Roman" panose="02020603050405020304" pitchFamily="18" charset="0"/>
              </a:rPr>
              <a:t> Abhiram                        (23AG1A6790)</a:t>
            </a:r>
          </a:p>
          <a:p>
            <a:pPr marL="342900" indent="-342900" algn="just">
              <a:lnSpc>
                <a:spcPct val="150000"/>
              </a:lnSpc>
              <a:spcAft>
                <a:spcPts val="800"/>
              </a:spcAft>
              <a:buAutoNum type="arabicPeriod" startAt="4"/>
            </a:pPr>
            <a:r>
              <a:rPr lang="en-IN" sz="1600" dirty="0" err="1">
                <a:latin typeface="Times New Roman" panose="02020603050405020304" pitchFamily="18" charset="0"/>
                <a:cs typeface="Times New Roman" panose="02020603050405020304" pitchFamily="18" charset="0"/>
              </a:rPr>
              <a:t>Bodiga</a:t>
            </a:r>
            <a:r>
              <a:rPr lang="en-IN" sz="1600" dirty="0">
                <a:latin typeface="Times New Roman" panose="02020603050405020304" pitchFamily="18" charset="0"/>
                <a:cs typeface="Times New Roman" panose="02020603050405020304" pitchFamily="18" charset="0"/>
              </a:rPr>
              <a:t> Sai Charan                       (23AG1A6771) </a:t>
            </a:r>
          </a:p>
        </p:txBody>
      </p:sp>
      <p:sp>
        <p:nvSpPr>
          <p:cNvPr id="19" name="TextBox 18">
            <a:extLst>
              <a:ext uri="{FF2B5EF4-FFF2-40B4-BE49-F238E27FC236}">
                <a16:creationId xmlns:a16="http://schemas.microsoft.com/office/drawing/2014/main" id="{CE0D15B4-3EE1-B8CD-6AD3-6FF44DDB1A0C}"/>
              </a:ext>
            </a:extLst>
          </p:cNvPr>
          <p:cNvSpPr txBox="1"/>
          <p:nvPr/>
        </p:nvSpPr>
        <p:spPr>
          <a:xfrm>
            <a:off x="181227" y="5186358"/>
            <a:ext cx="4995402" cy="981294"/>
          </a:xfrm>
          <a:prstGeom prst="rect">
            <a:avLst/>
          </a:prstGeom>
          <a:noFill/>
        </p:spPr>
        <p:txBody>
          <a:bodyPr wrap="square" rtlCol="0">
            <a:spAutoFit/>
          </a:bodyPr>
          <a:lstStyle/>
          <a:p>
            <a:pPr indent="457200">
              <a:lnSpc>
                <a:spcPct val="150000"/>
              </a:lnSpc>
              <a:spcAft>
                <a:spcPts val="800"/>
              </a:spcAft>
            </a:pPr>
            <a:r>
              <a:rPr lang="en-IN" dirty="0">
                <a:latin typeface="Times New Roman" panose="02020603050405020304" pitchFamily="18" charset="0"/>
                <a:cs typeface="Times New Roman" panose="02020603050405020304" pitchFamily="18" charset="0"/>
              </a:rPr>
              <a:t>Mr. </a:t>
            </a:r>
            <a:r>
              <a:rPr lang="en-IN" dirty="0" err="1">
                <a:latin typeface="Times New Roman" panose="02020603050405020304" pitchFamily="18" charset="0"/>
                <a:cs typeface="Times New Roman" panose="02020603050405020304" pitchFamily="18" charset="0"/>
              </a:rPr>
              <a:t>Peesala</a:t>
            </a:r>
            <a:r>
              <a:rPr lang="en-IN" dirty="0">
                <a:latin typeface="Times New Roman" panose="02020603050405020304" pitchFamily="18" charset="0"/>
                <a:cs typeface="Times New Roman" panose="02020603050405020304" pitchFamily="18" charset="0"/>
              </a:rPr>
              <a:t> Ilanna </a:t>
            </a:r>
          </a:p>
          <a:p>
            <a:pPr indent="457200">
              <a:lnSpc>
                <a:spcPct val="150000"/>
              </a:lnSpc>
              <a:spcAft>
                <a:spcPts val="800"/>
              </a:spcAft>
            </a:pPr>
            <a:r>
              <a:rPr lang="en-IN" dirty="0">
                <a:latin typeface="Times New Roman" panose="02020603050405020304" pitchFamily="18" charset="0"/>
                <a:cs typeface="Times New Roman" panose="02020603050405020304" pitchFamily="18" charset="0"/>
              </a:rPr>
              <a:t>Assistant Professor</a:t>
            </a:r>
          </a:p>
        </p:txBody>
      </p:sp>
      <p:pic>
        <p:nvPicPr>
          <p:cNvPr id="21" name="Picture 20">
            <a:extLst>
              <a:ext uri="{FF2B5EF4-FFF2-40B4-BE49-F238E27FC236}">
                <a16:creationId xmlns:a16="http://schemas.microsoft.com/office/drawing/2014/main" id="{5FC5C983-69BC-11BA-613D-A8EDEACE7D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1149" y="531303"/>
            <a:ext cx="1377779" cy="1377779"/>
          </a:xfrm>
          <a:prstGeom prst="rect">
            <a:avLst/>
          </a:prstGeom>
        </p:spPr>
      </p:pic>
    </p:spTree>
    <p:extLst>
      <p:ext uri="{BB962C8B-B14F-4D97-AF65-F5344CB8AC3E}">
        <p14:creationId xmlns:p14="http://schemas.microsoft.com/office/powerpoint/2010/main" val="36203456"/>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AC584-5FE2-35BD-A938-A1B4A27DE7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9F00528-A31A-B72C-BB71-2A9EB3564E61}"/>
              </a:ext>
            </a:extLst>
          </p:cNvPr>
          <p:cNvSpPr txBox="1">
            <a:spLocks/>
          </p:cNvSpPr>
          <p:nvPr/>
        </p:nvSpPr>
        <p:spPr>
          <a:xfrm>
            <a:off x="455950" y="237384"/>
            <a:ext cx="9656528" cy="476992"/>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100000"/>
              </a:lnSpc>
              <a:spcBef>
                <a:spcPct val="0"/>
              </a:spcBef>
              <a:buNone/>
              <a:defRPr sz="6000" kern="1200">
                <a:solidFill>
                  <a:schemeClr val="tx2"/>
                </a:solidFill>
                <a:latin typeface="+mj-lt"/>
                <a:ea typeface="+mj-ea"/>
                <a:cs typeface="+mj-cs"/>
              </a:defRPr>
            </a:lvl1pPr>
          </a:lstStyle>
          <a:p>
            <a:pPr algn="l"/>
            <a:r>
              <a:rPr lang="en-US" sz="4400" b="1" dirty="0">
                <a:solidFill>
                  <a:schemeClr val="bg2">
                    <a:lumMod val="50000"/>
                  </a:schemeClr>
                </a:solidFill>
                <a:latin typeface="Times New Roman" panose="02020603050405020304" pitchFamily="18" charset="0"/>
                <a:cs typeface="Times New Roman" panose="02020603050405020304" pitchFamily="18" charset="0"/>
              </a:rPr>
              <a:t>CONTENTS</a:t>
            </a:r>
            <a:endParaRPr lang="en-IN" sz="4400" b="1"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E120586D-5A6B-4262-4A05-CA2382B77578}"/>
              </a:ext>
            </a:extLst>
          </p:cNvPr>
          <p:cNvSpPr txBox="1">
            <a:spLocks/>
          </p:cNvSpPr>
          <p:nvPr/>
        </p:nvSpPr>
        <p:spPr>
          <a:xfrm>
            <a:off x="913150" y="714377"/>
            <a:ext cx="10364450" cy="6143623"/>
          </a:xfrm>
          <a:prstGeom prst="rect">
            <a:avLst/>
          </a:prstGeom>
        </p:spPr>
        <p:txBody>
          <a:bodyPr>
            <a:noAutofit/>
          </a:bodyPr>
          <a:lst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ABSTRACT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INTRODUCTION</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EXISTING SYSTEM  AND ITS LIMITATIONS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LITERATURE SURVEY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PROPOSED SYSTEM AND ITS ADVANTAGES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HARDWARE REQUIREMENTS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SOFTWARE REQUIREMENTS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SYSTEM ARCHITECTURE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DESIGN (UML DIAGRAMS)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OUTPUT SCREENS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CONCLUSION</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FUTURE ENHANCEMENT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REFERENCES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2851370"/>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D9B5-D844-88A8-6EFE-5023B2685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D1ED6-A0EB-68C3-D6D1-B18BBC0D757F}"/>
              </a:ext>
            </a:extLst>
          </p:cNvPr>
          <p:cNvSpPr txBox="1">
            <a:spLocks/>
          </p:cNvSpPr>
          <p:nvPr/>
        </p:nvSpPr>
        <p:spPr>
          <a:xfrm>
            <a:off x="490536" y="544734"/>
            <a:ext cx="10950615" cy="955454"/>
          </a:xfrm>
          <a:prstGeom prst="rect">
            <a:avLst/>
          </a:prstGeom>
        </p:spPr>
        <p:txBody>
          <a:bodyPr vert="horz" lIns="91440" tIns="45720" rIns="91440" bIns="45720" rtlCol="0" anchor="b">
            <a:normAutofit/>
          </a:bodyPr>
          <a:lstStyle>
            <a:lvl1pPr algn="ctr" defTabSz="914400" rtl="0" eaLnBrk="1" latinLnBrk="0" hangingPunct="1">
              <a:lnSpc>
                <a:spcPct val="100000"/>
              </a:lnSpc>
              <a:spcBef>
                <a:spcPct val="0"/>
              </a:spcBef>
              <a:buNone/>
              <a:defRPr sz="6000" kern="1200">
                <a:solidFill>
                  <a:schemeClr val="tx2"/>
                </a:solidFill>
                <a:latin typeface="+mj-lt"/>
                <a:ea typeface="+mj-ea"/>
                <a:cs typeface="+mj-cs"/>
              </a:defRPr>
            </a:lvl1pPr>
          </a:lstStyle>
          <a:p>
            <a:pPr algn="l"/>
            <a:r>
              <a:rPr lang="en-IN" sz="3600" dirty="0">
                <a:solidFill>
                  <a:srgbClr val="00000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68DDD4CA-3AC0-E0C6-0C4D-5E3181E30083}"/>
              </a:ext>
            </a:extLst>
          </p:cNvPr>
          <p:cNvSpPr txBox="1">
            <a:spLocks/>
          </p:cNvSpPr>
          <p:nvPr/>
        </p:nvSpPr>
        <p:spPr>
          <a:xfrm>
            <a:off x="442914" y="1500188"/>
            <a:ext cx="11258550" cy="4557712"/>
          </a:xfrm>
          <a:prstGeom prst="rect">
            <a:avLst/>
          </a:prstGeom>
        </p:spPr>
        <p:txBody>
          <a:bodyPr vert="horz" lIns="91440" tIns="45720" rIns="91440" bIns="45720" rtlCol="0">
            <a:noAutofit/>
          </a:bodyPr>
          <a:lstStyle>
            <a:lvl1pPr marL="0" indent="0" algn="ctr" defTabSz="914400" rtl="0" eaLnBrk="1" latinLnBrk="0" hangingPunct="1">
              <a:lnSpc>
                <a:spcPct val="110000"/>
              </a:lnSpc>
              <a:spcBef>
                <a:spcPts val="1000"/>
              </a:spcBef>
              <a:buClr>
                <a:schemeClr val="accent5"/>
              </a:buClr>
              <a:buFont typeface="Avenir Next LT Pro" panose="020B05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Clr>
                <a:schemeClr val="accent5"/>
              </a:buClr>
              <a:buFont typeface="Avenir Next LT Pro" panose="020B05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800">
                <a:latin typeface="Times New Roman" panose="02020603050405020304" pitchFamily="18" charset="0"/>
                <a:cs typeface="Times New Roman" panose="02020603050405020304" pitchFamily="18" charset="0"/>
              </a:rPr>
              <a:t>Social media platforms, particularly twitter, have become important channels for expressing public opinions on events, products, and social issues. The large volume and unstructured nature of twitter data make manual sentiment analysis difficult and inefficient. This project focuses on collecting twitter data and preprocessing it by removing noise such as special characters, stop words, urls, and irrelevant content to ensure data quality for effective analysis. The cleaned data is then transformed using text normalization, tokenization, and feature extraction techniques such as TF-IDF to convert textual information into numerical form.</a:t>
            </a:r>
          </a:p>
          <a:p>
            <a:pPr algn="just"/>
            <a:r>
              <a:rPr lang="en-US" sz="1800">
                <a:latin typeface="Times New Roman" panose="02020603050405020304" pitchFamily="18" charset="0"/>
                <a:cs typeface="Times New Roman" panose="02020603050405020304" pitchFamily="18" charset="0"/>
              </a:rPr>
              <a:t>    Machine learning algorithms are applied to classify tweets into positive, negative, or neutral sentiment categories. The proposed system provides an automated and efficient sentiment analysis framework capable of handling large scale twitter data and identifying overall public opinion trends. This integrated approach improves sentiment classification accuracy and supports applications in market analysis, social research, and decision-making support systems.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129219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9919F-6F01-6647-CA91-E006C6375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83121-8C94-0077-8D0E-5A0D00CDAAD1}"/>
              </a:ext>
            </a:extLst>
          </p:cNvPr>
          <p:cNvSpPr txBox="1">
            <a:spLocks/>
          </p:cNvSpPr>
          <p:nvPr/>
        </p:nvSpPr>
        <p:spPr>
          <a:xfrm>
            <a:off x="514351" y="646412"/>
            <a:ext cx="10893348" cy="853776"/>
          </a:xfrm>
          <a:prstGeom prst="rect">
            <a:avLst/>
          </a:prstGeom>
        </p:spPr>
        <p:txBody>
          <a:bodyPr vert="horz" lIns="91440" tIns="45720" rIns="91440" bIns="45720" rtlCol="0" anchor="b">
            <a:normAutofit/>
          </a:bodyPr>
          <a:lstStyle>
            <a:lvl1pPr algn="ctr" defTabSz="914400" rtl="0" eaLnBrk="1" latinLnBrk="0" hangingPunct="1">
              <a:lnSpc>
                <a:spcPct val="100000"/>
              </a:lnSpc>
              <a:spcBef>
                <a:spcPct val="0"/>
              </a:spcBef>
              <a:buNone/>
              <a:defRPr sz="6000" kern="1200">
                <a:solidFill>
                  <a:schemeClr val="tx2"/>
                </a:solidFill>
                <a:latin typeface="+mj-lt"/>
                <a:ea typeface="+mj-ea"/>
                <a:cs typeface="+mj-cs"/>
              </a:defRPr>
            </a:lvl1pPr>
          </a:lstStyle>
          <a:p>
            <a:pPr algn="l"/>
            <a:r>
              <a:rPr lang="en-IN" sz="3600" dirty="0">
                <a:solidFill>
                  <a:srgbClr val="00000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3D7D5830-949F-0E6D-9B5C-DBFDEB849FAD}"/>
              </a:ext>
            </a:extLst>
          </p:cNvPr>
          <p:cNvSpPr txBox="1">
            <a:spLocks/>
          </p:cNvSpPr>
          <p:nvPr/>
        </p:nvSpPr>
        <p:spPr>
          <a:xfrm>
            <a:off x="514350" y="1671638"/>
            <a:ext cx="10990262" cy="5186362"/>
          </a:xfrm>
          <a:prstGeom prst="rect">
            <a:avLst/>
          </a:prstGeom>
        </p:spPr>
        <p:txBody>
          <a:bodyPr vert="horz" lIns="91440" tIns="45720" rIns="91440" bIns="45720" rtlCol="0">
            <a:noAutofit/>
          </a:bodyPr>
          <a:lstStyle>
            <a:lvl1pPr marL="0" indent="0" algn="ctr" defTabSz="914400" rtl="0" eaLnBrk="1" latinLnBrk="0" hangingPunct="1">
              <a:lnSpc>
                <a:spcPct val="110000"/>
              </a:lnSpc>
              <a:spcBef>
                <a:spcPts val="1000"/>
              </a:spcBef>
              <a:buClr>
                <a:schemeClr val="accent5"/>
              </a:buClr>
              <a:buFont typeface="Avenir Next LT Pro" panose="020B05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Clr>
                <a:schemeClr val="accent5"/>
              </a:buClr>
              <a:buFont typeface="Avenir Next LT Pro" panose="020B05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Sentiment Analysis is a Natural Language Processing (NLP) technique used to identify and classify opinions or emotions expressed in text.</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Social media platforms like Twitter (X) generate massive amounts of real-time textual data every day.</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Twitter data includes short messages (tweets) containing hashtags, emojis, slang, abbreviations, and informal language.</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Due to its real-time and public nature, Twitter is a valuable source for analyzing public opinion and trends.</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Sentiment analysis classifies tweets into categories such as positive, negative, or neutral.</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Various techniques are used, including:</a:t>
            </a:r>
          </a:p>
          <a:p>
            <a:pPr algn="just"/>
            <a:r>
              <a:rPr lang="en-US" sz="1800" dirty="0">
                <a:latin typeface="Times New Roman" panose="02020603050405020304" pitchFamily="18" charset="0"/>
                <a:cs typeface="Times New Roman" panose="02020603050405020304" pitchFamily="18" charset="0"/>
              </a:rPr>
              <a:t>             1.Machine Learning algorithms (Naïve Bayes, SVM, Logistic Regression)</a:t>
            </a:r>
          </a:p>
          <a:p>
            <a:pPr algn="just"/>
            <a:r>
              <a:rPr lang="en-US" sz="1800" dirty="0">
                <a:latin typeface="Times New Roman" panose="02020603050405020304" pitchFamily="18" charset="0"/>
                <a:cs typeface="Times New Roman" panose="02020603050405020304" pitchFamily="18" charset="0"/>
              </a:rPr>
              <a:t>             2.Deep Learning models (LSTM, CNN, Transformers)</a:t>
            </a:r>
          </a:p>
          <a:p>
            <a:pPr algn="just"/>
            <a:r>
              <a:rPr lang="en-US" sz="1800" dirty="0">
                <a:latin typeface="Times New Roman" panose="02020603050405020304" pitchFamily="18" charset="0"/>
                <a:cs typeface="Times New Roman" panose="02020603050405020304" pitchFamily="18" charset="0"/>
              </a:rPr>
              <a:t>             3.Lexicon-based approaches</a:t>
            </a:r>
          </a:p>
        </p:txBody>
      </p:sp>
    </p:spTree>
    <p:extLst>
      <p:ext uri="{BB962C8B-B14F-4D97-AF65-F5344CB8AC3E}">
        <p14:creationId xmlns:p14="http://schemas.microsoft.com/office/powerpoint/2010/main" val="4030680021"/>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9FC54-F0DD-8D2E-E0FE-9D71F443D6DC}"/>
              </a:ext>
            </a:extLst>
          </p:cNvPr>
          <p:cNvSpPr>
            <a:spLocks noGrp="1"/>
          </p:cNvSpPr>
          <p:nvPr>
            <p:ph type="title"/>
          </p:nvPr>
        </p:nvSpPr>
        <p:spPr>
          <a:xfrm>
            <a:off x="138112" y="342900"/>
            <a:ext cx="10515600" cy="804863"/>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EXISTING SYSTEM AND ITS LIMITATIONS</a:t>
            </a:r>
          </a:p>
        </p:txBody>
      </p:sp>
      <p:sp>
        <p:nvSpPr>
          <p:cNvPr id="3" name="Content Placeholder 2">
            <a:extLst>
              <a:ext uri="{FF2B5EF4-FFF2-40B4-BE49-F238E27FC236}">
                <a16:creationId xmlns:a16="http://schemas.microsoft.com/office/drawing/2014/main" id="{F60AA371-2D84-AAEA-C9E6-37225609A1A8}"/>
              </a:ext>
            </a:extLst>
          </p:cNvPr>
          <p:cNvSpPr>
            <a:spLocks noGrp="1"/>
          </p:cNvSpPr>
          <p:nvPr>
            <p:ph idx="1"/>
          </p:nvPr>
        </p:nvSpPr>
        <p:spPr>
          <a:xfrm>
            <a:off x="352425" y="1362076"/>
            <a:ext cx="10796587" cy="5053011"/>
          </a:xfrm>
        </p:spPr>
        <p:txBody>
          <a:bodyPr>
            <a:noAutofit/>
          </a:bodyPr>
          <a:lstStyle/>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Traditional sentiment analysis systems mainly rely on text-based machine learning approaches to analyze Twitter data. These systems focus only on textual information and often ignore contextual elements such as sarcasm, emojis, and informal language.</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They use preprocessing techniques such as stop word removal, tokenization, and stemming, followed by feature extraction methods like TF-IDF or Bag of Words to convert text into numerical format.</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Classification is performed using algorithms such as Naive Bayes, Support Vector Machine, and Logistic Regression, which categorize tweets into positive, negative, or neutral sentiments.</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However, these systems struggle with understanding contextual meaning, sarcasm, slang words, and dynamic social media expressions, leading to reduced accuracy in real-world scenarios</a:t>
            </a:r>
          </a:p>
          <a:p>
            <a:pPr algn="just">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18397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C90D3-66CB-838F-FDC9-CA0138642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C043A-142B-AC51-E3FB-0B1920C858DC}"/>
              </a:ext>
            </a:extLst>
          </p:cNvPr>
          <p:cNvSpPr txBox="1">
            <a:spLocks/>
          </p:cNvSpPr>
          <p:nvPr/>
        </p:nvSpPr>
        <p:spPr>
          <a:xfrm>
            <a:off x="300039" y="342900"/>
            <a:ext cx="11204574" cy="885825"/>
          </a:xfrm>
          <a:prstGeom prst="rect">
            <a:avLst/>
          </a:prstGeom>
        </p:spPr>
        <p:txBody>
          <a:bodyPr vert="horz" lIns="91440" tIns="45720" rIns="91440" bIns="45720" rtlCol="0" anchor="b">
            <a:normAutofit/>
          </a:bodyPr>
          <a:lstStyle>
            <a:lvl1pPr algn="ctr" defTabSz="914400" rtl="0" eaLnBrk="1" latinLnBrk="0" hangingPunct="1">
              <a:lnSpc>
                <a:spcPct val="100000"/>
              </a:lnSpc>
              <a:spcBef>
                <a:spcPct val="0"/>
              </a:spcBef>
              <a:buNone/>
              <a:defRPr sz="6000" kern="1200">
                <a:solidFill>
                  <a:schemeClr val="tx2"/>
                </a:solidFill>
                <a:latin typeface="+mj-lt"/>
                <a:ea typeface="+mj-ea"/>
                <a:cs typeface="+mj-cs"/>
              </a:defRPr>
            </a:lvl1pPr>
          </a:lstStyle>
          <a:p>
            <a:pPr algn="l"/>
            <a:r>
              <a:rPr lang="en-IN" sz="3600" dirty="0">
                <a:solidFill>
                  <a:srgbClr val="000000"/>
                </a:solidFill>
                <a:latin typeface="Times New Roman" panose="02020603050405020304" pitchFamily="18" charset="0"/>
                <a:cs typeface="Times New Roman" panose="02020603050405020304" pitchFamily="18" charset="0"/>
              </a:rPr>
              <a:t>LITERATURE SURVEY</a:t>
            </a:r>
          </a:p>
        </p:txBody>
      </p:sp>
      <p:graphicFrame>
        <p:nvGraphicFramePr>
          <p:cNvPr id="3" name="Table 2">
            <a:extLst>
              <a:ext uri="{FF2B5EF4-FFF2-40B4-BE49-F238E27FC236}">
                <a16:creationId xmlns:a16="http://schemas.microsoft.com/office/drawing/2014/main" id="{A0BD32FE-A60C-D983-28E4-BE8BBA4F9417}"/>
              </a:ext>
            </a:extLst>
          </p:cNvPr>
          <p:cNvGraphicFramePr>
            <a:graphicFrameLocks noGrp="1"/>
          </p:cNvGraphicFramePr>
          <p:nvPr>
            <p:extLst>
              <p:ext uri="{D42A27DB-BD31-4B8C-83A1-F6EECF244321}">
                <p14:modId xmlns:p14="http://schemas.microsoft.com/office/powerpoint/2010/main" val="1709236949"/>
              </p:ext>
            </p:extLst>
          </p:nvPr>
        </p:nvGraphicFramePr>
        <p:xfrm>
          <a:off x="300039" y="1494971"/>
          <a:ext cx="11591920" cy="5239657"/>
        </p:xfrm>
        <a:graphic>
          <a:graphicData uri="http://schemas.openxmlformats.org/drawingml/2006/table">
            <a:tbl>
              <a:tblPr>
                <a:tableStyleId>{616DA210-FB5B-4158-B5E0-FEB733F419BA}</a:tableStyleId>
              </a:tblPr>
              <a:tblGrid>
                <a:gridCol w="2318384">
                  <a:extLst>
                    <a:ext uri="{9D8B030D-6E8A-4147-A177-3AD203B41FA5}">
                      <a16:colId xmlns:a16="http://schemas.microsoft.com/office/drawing/2014/main" val="3331243740"/>
                    </a:ext>
                  </a:extLst>
                </a:gridCol>
                <a:gridCol w="2318384">
                  <a:extLst>
                    <a:ext uri="{9D8B030D-6E8A-4147-A177-3AD203B41FA5}">
                      <a16:colId xmlns:a16="http://schemas.microsoft.com/office/drawing/2014/main" val="1810758628"/>
                    </a:ext>
                  </a:extLst>
                </a:gridCol>
                <a:gridCol w="2318384">
                  <a:extLst>
                    <a:ext uri="{9D8B030D-6E8A-4147-A177-3AD203B41FA5}">
                      <a16:colId xmlns:a16="http://schemas.microsoft.com/office/drawing/2014/main" val="2817890334"/>
                    </a:ext>
                  </a:extLst>
                </a:gridCol>
                <a:gridCol w="2643552">
                  <a:extLst>
                    <a:ext uri="{9D8B030D-6E8A-4147-A177-3AD203B41FA5}">
                      <a16:colId xmlns:a16="http://schemas.microsoft.com/office/drawing/2014/main" val="2799384802"/>
                    </a:ext>
                  </a:extLst>
                </a:gridCol>
                <a:gridCol w="1993216">
                  <a:extLst>
                    <a:ext uri="{9D8B030D-6E8A-4147-A177-3AD203B41FA5}">
                      <a16:colId xmlns:a16="http://schemas.microsoft.com/office/drawing/2014/main" val="2503553952"/>
                    </a:ext>
                  </a:extLst>
                </a:gridCol>
              </a:tblGrid>
              <a:tr h="560955">
                <a:tc>
                  <a:txBody>
                    <a:bodyPr/>
                    <a:lstStyle/>
                    <a:p>
                      <a:pPr algn="ctr">
                        <a:buNone/>
                      </a:pPr>
                      <a:r>
                        <a:rPr lang="en-IN" sz="1800" b="1" dirty="0">
                          <a:latin typeface="Times New Roman" panose="02020603050405020304" pitchFamily="18" charset="0"/>
                          <a:cs typeface="Times New Roman" panose="02020603050405020304" pitchFamily="18" charset="0"/>
                        </a:rPr>
                        <a:t>Title Name</a:t>
                      </a:r>
                    </a:p>
                  </a:txBody>
                  <a:tcPr marL="30037" marR="30037" marT="15019" marB="15019" anchor="ctr"/>
                </a:tc>
                <a:tc>
                  <a:txBody>
                    <a:bodyPr/>
                    <a:lstStyle/>
                    <a:p>
                      <a:pPr algn="ctr">
                        <a:buNone/>
                      </a:pPr>
                      <a:r>
                        <a:rPr lang="en-IN" sz="1800" b="1" dirty="0">
                          <a:latin typeface="Times New Roman" panose="02020603050405020304" pitchFamily="18" charset="0"/>
                          <a:cs typeface="Times New Roman" panose="02020603050405020304" pitchFamily="18" charset="0"/>
                        </a:rPr>
                        <a:t>Author Names</a:t>
                      </a:r>
                    </a:p>
                  </a:txBody>
                  <a:tcPr marL="30037" marR="30037" marT="15019" marB="15019" anchor="ctr"/>
                </a:tc>
                <a:tc>
                  <a:txBody>
                    <a:bodyPr/>
                    <a:lstStyle/>
                    <a:p>
                      <a:pPr algn="ctr">
                        <a:buNone/>
                      </a:pPr>
                      <a:r>
                        <a:rPr lang="en-IN" sz="1800" b="1" dirty="0">
                          <a:latin typeface="Times New Roman" panose="02020603050405020304" pitchFamily="18" charset="0"/>
                          <a:cs typeface="Times New Roman" panose="02020603050405020304" pitchFamily="18" charset="0"/>
                        </a:rPr>
                        <a:t>Technologies Used</a:t>
                      </a:r>
                    </a:p>
                  </a:txBody>
                  <a:tcPr marL="30037" marR="30037" marT="15019" marB="15019" anchor="ctr"/>
                </a:tc>
                <a:tc>
                  <a:txBody>
                    <a:bodyPr/>
                    <a:lstStyle/>
                    <a:p>
                      <a:pPr algn="ctr">
                        <a:buNone/>
                      </a:pPr>
                      <a:r>
                        <a:rPr lang="en-IN" sz="1800" b="1" dirty="0">
                          <a:latin typeface="Times New Roman" panose="02020603050405020304" pitchFamily="18" charset="0"/>
                          <a:cs typeface="Times New Roman" panose="02020603050405020304" pitchFamily="18" charset="0"/>
                        </a:rPr>
                        <a:t>Limitations</a:t>
                      </a:r>
                    </a:p>
                  </a:txBody>
                  <a:tcPr marL="30037" marR="30037" marT="15019" marB="15019" anchor="ctr"/>
                </a:tc>
                <a:tc>
                  <a:txBody>
                    <a:bodyPr/>
                    <a:lstStyle/>
                    <a:p>
                      <a:pPr algn="ctr">
                        <a:buNone/>
                      </a:pPr>
                      <a:r>
                        <a:rPr lang="en-IN" sz="1800" b="1" dirty="0">
                          <a:latin typeface="Times New Roman" panose="02020603050405020304" pitchFamily="18" charset="0"/>
                          <a:cs typeface="Times New Roman" panose="02020603050405020304" pitchFamily="18" charset="0"/>
                        </a:rPr>
                        <a:t>Year</a:t>
                      </a:r>
                    </a:p>
                  </a:txBody>
                  <a:tcPr marL="30037" marR="30037" marT="15019" marB="15019" anchor="ctr"/>
                </a:tc>
                <a:extLst>
                  <a:ext uri="{0D108BD9-81ED-4DB2-BD59-A6C34878D82A}">
                    <a16:rowId xmlns:a16="http://schemas.microsoft.com/office/drawing/2014/main" val="745389702"/>
                  </a:ext>
                </a:extLst>
              </a:tr>
              <a:tr h="1282538">
                <a:tc>
                  <a:txBody>
                    <a:bodyPr/>
                    <a:lstStyle/>
                    <a:p>
                      <a:pPr>
                        <a:buNone/>
                      </a:pPr>
                      <a:r>
                        <a:rPr lang="en-US" sz="1600" dirty="0">
                          <a:latin typeface="Times New Roman" panose="02020603050405020304" pitchFamily="18" charset="0"/>
                          <a:cs typeface="Times New Roman" panose="02020603050405020304" pitchFamily="18" charset="0"/>
                        </a:rPr>
                        <a:t>Twitter (X) as an Electoral Barometer: Systematic Evidence from Sentiment Analysis of Twitter Data</a:t>
                      </a:r>
                    </a:p>
                  </a:txBody>
                  <a:tcPr marL="30037" marR="30037" marT="15019" marB="15019" anchor="ctr"/>
                </a:tc>
                <a:tc>
                  <a:txBody>
                    <a:bodyPr/>
                    <a:lstStyle/>
                    <a:p>
                      <a:pPr>
                        <a:buNone/>
                      </a:pPr>
                      <a:r>
                        <a:rPr lang="en-IN" sz="1600" dirty="0">
                          <a:latin typeface="Times New Roman" panose="02020603050405020304" pitchFamily="18" charset="0"/>
                          <a:cs typeface="Times New Roman" panose="02020603050405020304" pitchFamily="18" charset="0"/>
                        </a:rPr>
                        <a:t>M. </a:t>
                      </a:r>
                      <a:r>
                        <a:rPr lang="en-IN" sz="1600" dirty="0" err="1">
                          <a:latin typeface="Times New Roman" panose="02020603050405020304" pitchFamily="18" charset="0"/>
                          <a:cs typeface="Times New Roman" panose="02020603050405020304" pitchFamily="18" charset="0"/>
                        </a:rPr>
                        <a:t>Asokere</a:t>
                      </a:r>
                      <a:r>
                        <a:rPr lang="en-IN" sz="1600" dirty="0">
                          <a:latin typeface="Times New Roman" panose="02020603050405020304" pitchFamily="18" charset="0"/>
                          <a:cs typeface="Times New Roman" panose="02020603050405020304" pitchFamily="18" charset="0"/>
                        </a:rPr>
                        <a:t>, A. </a:t>
                      </a:r>
                      <a:r>
                        <a:rPr lang="en-IN" sz="1600" dirty="0" err="1">
                          <a:latin typeface="Times New Roman" panose="02020603050405020304" pitchFamily="18" charset="0"/>
                          <a:cs typeface="Times New Roman" panose="02020603050405020304" pitchFamily="18" charset="0"/>
                        </a:rPr>
                        <a:t>Wusu</a:t>
                      </a:r>
                      <a:r>
                        <a:rPr lang="en-IN" sz="1600" dirty="0">
                          <a:latin typeface="Times New Roman" panose="02020603050405020304" pitchFamily="18" charset="0"/>
                          <a:cs typeface="Times New Roman" panose="02020603050405020304" pitchFamily="18" charset="0"/>
                        </a:rPr>
                        <a:t>, O. </a:t>
                      </a:r>
                      <a:r>
                        <a:rPr lang="en-IN" sz="1600" dirty="0" err="1">
                          <a:latin typeface="Times New Roman" panose="02020603050405020304" pitchFamily="18" charset="0"/>
                          <a:cs typeface="Times New Roman" panose="02020603050405020304" pitchFamily="18" charset="0"/>
                        </a:rPr>
                        <a:t>Olabanjo</a:t>
                      </a:r>
                      <a:endParaRPr lang="en-IN" sz="1600" dirty="0">
                        <a:latin typeface="Times New Roman" panose="02020603050405020304" pitchFamily="18" charset="0"/>
                        <a:cs typeface="Times New Roman" panose="02020603050405020304" pitchFamily="18" charset="0"/>
                      </a:endParaRPr>
                    </a:p>
                  </a:txBody>
                  <a:tcPr marL="30037" marR="30037" marT="15019" marB="15019" anchor="ctr"/>
                </a:tc>
                <a:tc>
                  <a:txBody>
                    <a:bodyPr/>
                    <a:lstStyle/>
                    <a:p>
                      <a:pPr>
                        <a:buNone/>
                      </a:pPr>
                      <a:r>
                        <a:rPr lang="en-IN" sz="1600" dirty="0">
                          <a:latin typeface="Times New Roman" panose="02020603050405020304" pitchFamily="18" charset="0"/>
                          <a:cs typeface="Times New Roman" panose="02020603050405020304" pitchFamily="18" charset="0"/>
                        </a:rPr>
                        <a:t>Machine Learning, NLP, Sentiment Classification</a:t>
                      </a:r>
                    </a:p>
                  </a:txBody>
                  <a:tcPr marL="30037" marR="30037" marT="15019" marB="15019" anchor="ctr"/>
                </a:tc>
                <a:tc>
                  <a:txBody>
                    <a:bodyPr/>
                    <a:lstStyle/>
                    <a:p>
                      <a:pPr>
                        <a:buNone/>
                      </a:pPr>
                      <a:r>
                        <a:rPr lang="en-US" sz="1600" dirty="0">
                          <a:latin typeface="Times New Roman" panose="02020603050405020304" pitchFamily="18" charset="0"/>
                          <a:cs typeface="Times New Roman" panose="02020603050405020304" pitchFamily="18" charset="0"/>
                        </a:rPr>
                        <a:t>Limited validation with real election results; dataset bias</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2025</a:t>
                      </a:r>
                    </a:p>
                  </a:txBody>
                  <a:tcPr marL="30037" marR="30037" marT="15019" marB="15019" anchor="ctr"/>
                </a:tc>
                <a:extLst>
                  <a:ext uri="{0D108BD9-81ED-4DB2-BD59-A6C34878D82A}">
                    <a16:rowId xmlns:a16="http://schemas.microsoft.com/office/drawing/2014/main" val="2888333088"/>
                  </a:ext>
                </a:extLst>
              </a:tr>
              <a:tr h="1259805">
                <a:tc>
                  <a:txBody>
                    <a:bodyPr/>
                    <a:lstStyle/>
                    <a:p>
                      <a:pPr>
                        <a:buNone/>
                      </a:pPr>
                      <a:r>
                        <a:rPr lang="en-US" sz="1600" b="0" dirty="0">
                          <a:latin typeface="Times New Roman" panose="02020603050405020304" pitchFamily="18" charset="0"/>
                          <a:cs typeface="Times New Roman" panose="02020603050405020304" pitchFamily="18" charset="0"/>
                        </a:rPr>
                        <a:t>Twitter Sentiment Analysis Using Machine Learning and Deep Learning Techniques</a:t>
                      </a:r>
                    </a:p>
                  </a:txBody>
                  <a:tcPr marL="30037" marR="30037" marT="15019" marB="15019" anchor="ctr"/>
                </a:tc>
                <a:tc>
                  <a:txBody>
                    <a:bodyPr/>
                    <a:lstStyle/>
                    <a:p>
                      <a:pPr>
                        <a:buNone/>
                      </a:pPr>
                      <a:r>
                        <a:rPr lang="nl-NL" sz="1600" b="0" dirty="0">
                          <a:latin typeface="Times New Roman" panose="02020603050405020304" pitchFamily="18" charset="0"/>
                          <a:cs typeface="Times New Roman" panose="02020603050405020304" pitchFamily="18" charset="0"/>
                        </a:rPr>
                        <a:t>Safa Khalid Al Sarayrah et al.</a:t>
                      </a:r>
                    </a:p>
                  </a:txBody>
                  <a:tcPr marL="30037" marR="30037" marT="15019" marB="15019" anchor="ctr"/>
                </a:tc>
                <a:tc>
                  <a:txBody>
                    <a:bodyPr/>
                    <a:lstStyle/>
                    <a:p>
                      <a:pPr>
                        <a:buNone/>
                      </a:pPr>
                      <a:r>
                        <a:rPr lang="en-US" sz="1600" b="0" dirty="0">
                          <a:latin typeface="Times New Roman" panose="02020603050405020304" pitchFamily="18" charset="0"/>
                          <a:cs typeface="Times New Roman" panose="02020603050405020304" pitchFamily="18" charset="0"/>
                        </a:rPr>
                        <a:t>SVM, Logistic Regression, LSTM, Deep Learning</a:t>
                      </a:r>
                    </a:p>
                  </a:txBody>
                  <a:tcPr marL="30037" marR="30037" marT="15019" marB="15019" anchor="ctr"/>
                </a:tc>
                <a:tc>
                  <a:txBody>
                    <a:bodyPr/>
                    <a:lstStyle/>
                    <a:p>
                      <a:pPr>
                        <a:buNone/>
                      </a:pPr>
                      <a:r>
                        <a:rPr lang="en-US" sz="1600" b="0" dirty="0">
                          <a:latin typeface="Times New Roman" panose="02020603050405020304" pitchFamily="18" charset="0"/>
                          <a:cs typeface="Times New Roman" panose="02020603050405020304" pitchFamily="18" charset="0"/>
                        </a:rPr>
                        <a:t>Difficulty handling sarcasm and emojis; computational cost</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2025</a:t>
                      </a:r>
                    </a:p>
                  </a:txBody>
                  <a:tcPr marL="30037" marR="30037" marT="15019" marB="15019" anchor="ctr"/>
                </a:tc>
                <a:extLst>
                  <a:ext uri="{0D108BD9-81ED-4DB2-BD59-A6C34878D82A}">
                    <a16:rowId xmlns:a16="http://schemas.microsoft.com/office/drawing/2014/main" val="1138373601"/>
                  </a:ext>
                </a:extLst>
              </a:tr>
              <a:tr h="954264">
                <a:tc>
                  <a:txBody>
                    <a:bodyPr/>
                    <a:lstStyle/>
                    <a:p>
                      <a:pPr>
                        <a:buNone/>
                      </a:pPr>
                      <a:r>
                        <a:rPr lang="en-US" sz="1600" dirty="0">
                          <a:latin typeface="Times New Roman" panose="02020603050405020304" pitchFamily="18" charset="0"/>
                          <a:cs typeface="Times New Roman" panose="02020603050405020304" pitchFamily="18" charset="0"/>
                        </a:rPr>
                        <a:t>Sentiment Analysis: A Hybrid Approach on Twitter Data</a:t>
                      </a:r>
                    </a:p>
                  </a:txBody>
                  <a:tcPr marL="30037" marR="30037" marT="15019" marB="15019" anchor="ctr"/>
                </a:tc>
                <a:tc>
                  <a:txBody>
                    <a:bodyPr/>
                    <a:lstStyle/>
                    <a:p>
                      <a:pPr>
                        <a:buNone/>
                      </a:pPr>
                      <a:r>
                        <a:rPr lang="en-IN" sz="1600" dirty="0">
                          <a:latin typeface="Times New Roman" panose="02020603050405020304" pitchFamily="18" charset="0"/>
                          <a:cs typeface="Times New Roman" panose="02020603050405020304" pitchFamily="18" charset="0"/>
                        </a:rPr>
                        <a:t>C. G. Maurya</a:t>
                      </a:r>
                    </a:p>
                  </a:txBody>
                  <a:tcPr marL="30037" marR="30037" marT="15019" marB="15019" anchor="ctr"/>
                </a:tc>
                <a:tc>
                  <a:txBody>
                    <a:bodyPr/>
                    <a:lstStyle/>
                    <a:p>
                      <a:pPr>
                        <a:buNone/>
                      </a:pPr>
                      <a:r>
                        <a:rPr lang="en-IN" sz="1600">
                          <a:latin typeface="Times New Roman" panose="02020603050405020304" pitchFamily="18" charset="0"/>
                          <a:cs typeface="Times New Roman" panose="02020603050405020304" pitchFamily="18" charset="0"/>
                        </a:rPr>
                        <a:t>Hybrid ML, Opinion Mining, NLP</a:t>
                      </a:r>
                    </a:p>
                  </a:txBody>
                  <a:tcPr marL="30037" marR="30037" marT="15019" marB="15019" anchor="ctr"/>
                </a:tc>
                <a:tc>
                  <a:txBody>
                    <a:bodyPr/>
                    <a:lstStyle/>
                    <a:p>
                      <a:pPr>
                        <a:buNone/>
                      </a:pPr>
                      <a:r>
                        <a:rPr lang="en-IN" sz="1600">
                          <a:latin typeface="Times New Roman" panose="02020603050405020304" pitchFamily="18" charset="0"/>
                          <a:cs typeface="Times New Roman" panose="02020603050405020304" pitchFamily="18" charset="0"/>
                        </a:rPr>
                        <a:t>Complex processing pipeline</a:t>
                      </a:r>
                    </a:p>
                  </a:txBody>
                  <a:tcPr marL="30037" marR="30037" marT="15019" marB="15019" anchor="ctr"/>
                </a:tc>
                <a:tc>
                  <a:txBody>
                    <a:bodyPr/>
                    <a:lstStyle/>
                    <a:p>
                      <a:pPr>
                        <a:buNone/>
                      </a:pPr>
                      <a:r>
                        <a:rPr lang="en-IN" sz="1600" b="0">
                          <a:latin typeface="Times New Roman" panose="02020603050405020304" pitchFamily="18" charset="0"/>
                          <a:cs typeface="Times New Roman" panose="02020603050405020304" pitchFamily="18" charset="0"/>
                        </a:rPr>
                        <a:t>2024</a:t>
                      </a:r>
                    </a:p>
                  </a:txBody>
                  <a:tcPr marL="30037" marR="30037" marT="15019" marB="15019" anchor="ctr"/>
                </a:tc>
                <a:extLst>
                  <a:ext uri="{0D108BD9-81ED-4DB2-BD59-A6C34878D82A}">
                    <a16:rowId xmlns:a16="http://schemas.microsoft.com/office/drawing/2014/main" val="2888595005"/>
                  </a:ext>
                </a:extLst>
              </a:tr>
              <a:tr h="1182095">
                <a:tc>
                  <a:txBody>
                    <a:bodyPr/>
                    <a:lstStyle/>
                    <a:p>
                      <a:pPr>
                        <a:buNone/>
                      </a:pPr>
                      <a:r>
                        <a:rPr lang="en-US" sz="1600">
                          <a:latin typeface="Times New Roman" panose="02020603050405020304" pitchFamily="18" charset="0"/>
                          <a:cs typeface="Times New Roman" panose="02020603050405020304" pitchFamily="18" charset="0"/>
                        </a:rPr>
                        <a:t>BERT Model Adoption for Sarcasm Detection on Twitter Data</a:t>
                      </a:r>
                    </a:p>
                  </a:txBody>
                  <a:tcPr marL="30037" marR="30037" marT="15019" marB="15019" anchor="ctr"/>
                </a:tc>
                <a:tc>
                  <a:txBody>
                    <a:bodyPr/>
                    <a:lstStyle/>
                    <a:p>
                      <a:pPr>
                        <a:buNone/>
                      </a:pPr>
                      <a:r>
                        <a:rPr lang="en-IN" sz="1600" dirty="0">
                          <a:latin typeface="Times New Roman" panose="02020603050405020304" pitchFamily="18" charset="0"/>
                          <a:cs typeface="Times New Roman" panose="02020603050405020304" pitchFamily="18" charset="0"/>
                        </a:rPr>
                        <a:t>T. Javed et al.</a:t>
                      </a:r>
                    </a:p>
                  </a:txBody>
                  <a:tcPr marL="30037" marR="30037" marT="15019" marB="15019" anchor="ctr"/>
                </a:tc>
                <a:tc>
                  <a:txBody>
                    <a:bodyPr/>
                    <a:lstStyle/>
                    <a:p>
                      <a:pPr>
                        <a:buNone/>
                      </a:pPr>
                      <a:r>
                        <a:rPr lang="en-IN" sz="1600">
                          <a:latin typeface="Times New Roman" panose="02020603050405020304" pitchFamily="18" charset="0"/>
                          <a:cs typeface="Times New Roman" panose="02020603050405020304" pitchFamily="18" charset="0"/>
                        </a:rPr>
                        <a:t>BERT Transformer Model</a:t>
                      </a:r>
                    </a:p>
                  </a:txBody>
                  <a:tcPr marL="30037" marR="30037" marT="15019" marB="15019" anchor="ctr"/>
                </a:tc>
                <a:tc>
                  <a:txBody>
                    <a:bodyPr/>
                    <a:lstStyle/>
                    <a:p>
                      <a:pPr>
                        <a:buNone/>
                      </a:pPr>
                      <a:r>
                        <a:rPr lang="en-US" sz="1600">
                          <a:latin typeface="Times New Roman" panose="02020603050405020304" pitchFamily="18" charset="0"/>
                          <a:cs typeface="Times New Roman" panose="02020603050405020304" pitchFamily="18" charset="0"/>
                        </a:rPr>
                        <a:t>Sarcasm detection accuracy still limited</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2024</a:t>
                      </a:r>
                    </a:p>
                  </a:txBody>
                  <a:tcPr marL="30037" marR="30037" marT="15019" marB="15019" anchor="ctr"/>
                </a:tc>
                <a:extLst>
                  <a:ext uri="{0D108BD9-81ED-4DB2-BD59-A6C34878D82A}">
                    <a16:rowId xmlns:a16="http://schemas.microsoft.com/office/drawing/2014/main" val="2238512475"/>
                  </a:ext>
                </a:extLst>
              </a:tr>
            </a:tbl>
          </a:graphicData>
        </a:graphic>
      </p:graphicFrame>
    </p:spTree>
    <p:extLst>
      <p:ext uri="{BB962C8B-B14F-4D97-AF65-F5344CB8AC3E}">
        <p14:creationId xmlns:p14="http://schemas.microsoft.com/office/powerpoint/2010/main" val="143622345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1CD31-045B-8EF8-DE0F-C2F5095AF5EA}"/>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9002F94-9745-0E46-A427-68F3C4EFD7A7}"/>
              </a:ext>
            </a:extLst>
          </p:cNvPr>
          <p:cNvGraphicFramePr>
            <a:graphicFrameLocks noGrp="1"/>
          </p:cNvGraphicFramePr>
          <p:nvPr>
            <p:extLst>
              <p:ext uri="{D42A27DB-BD31-4B8C-83A1-F6EECF244321}">
                <p14:modId xmlns:p14="http://schemas.microsoft.com/office/powerpoint/2010/main" val="3125657149"/>
              </p:ext>
            </p:extLst>
          </p:nvPr>
        </p:nvGraphicFramePr>
        <p:xfrm>
          <a:off x="300040" y="585787"/>
          <a:ext cx="11591920" cy="5722380"/>
        </p:xfrm>
        <a:graphic>
          <a:graphicData uri="http://schemas.openxmlformats.org/drawingml/2006/table">
            <a:tbl>
              <a:tblPr>
                <a:tableStyleId>{616DA210-FB5B-4158-B5E0-FEB733F419BA}</a:tableStyleId>
              </a:tblPr>
              <a:tblGrid>
                <a:gridCol w="2318384">
                  <a:extLst>
                    <a:ext uri="{9D8B030D-6E8A-4147-A177-3AD203B41FA5}">
                      <a16:colId xmlns:a16="http://schemas.microsoft.com/office/drawing/2014/main" val="3205750363"/>
                    </a:ext>
                  </a:extLst>
                </a:gridCol>
                <a:gridCol w="2318384">
                  <a:extLst>
                    <a:ext uri="{9D8B030D-6E8A-4147-A177-3AD203B41FA5}">
                      <a16:colId xmlns:a16="http://schemas.microsoft.com/office/drawing/2014/main" val="1280750687"/>
                    </a:ext>
                  </a:extLst>
                </a:gridCol>
                <a:gridCol w="2318384">
                  <a:extLst>
                    <a:ext uri="{9D8B030D-6E8A-4147-A177-3AD203B41FA5}">
                      <a16:colId xmlns:a16="http://schemas.microsoft.com/office/drawing/2014/main" val="204239229"/>
                    </a:ext>
                  </a:extLst>
                </a:gridCol>
                <a:gridCol w="2318384">
                  <a:extLst>
                    <a:ext uri="{9D8B030D-6E8A-4147-A177-3AD203B41FA5}">
                      <a16:colId xmlns:a16="http://schemas.microsoft.com/office/drawing/2014/main" val="826603042"/>
                    </a:ext>
                  </a:extLst>
                </a:gridCol>
                <a:gridCol w="2318384">
                  <a:extLst>
                    <a:ext uri="{9D8B030D-6E8A-4147-A177-3AD203B41FA5}">
                      <a16:colId xmlns:a16="http://schemas.microsoft.com/office/drawing/2014/main" val="785632722"/>
                    </a:ext>
                  </a:extLst>
                </a:gridCol>
              </a:tblGrid>
              <a:tr h="1762767">
                <a:tc>
                  <a:txBody>
                    <a:bodyPr/>
                    <a:lstStyle/>
                    <a:p>
                      <a:pPr>
                        <a:buNone/>
                      </a:pPr>
                      <a:r>
                        <a:rPr lang="en-US" sz="1600" dirty="0">
                          <a:latin typeface="Times New Roman" panose="02020603050405020304" pitchFamily="18" charset="0"/>
                          <a:cs typeface="Times New Roman" panose="02020603050405020304" pitchFamily="18" charset="0"/>
                        </a:rPr>
                        <a:t>A BERT Framework for Sentiment Analysis of Tweets</a:t>
                      </a:r>
                    </a:p>
                  </a:txBody>
                  <a:tcPr marL="30037" marR="30037" marT="15019" marB="15019" anchor="ctr"/>
                </a:tc>
                <a:tc>
                  <a:txBody>
                    <a:bodyPr/>
                    <a:lstStyle/>
                    <a:p>
                      <a:pPr>
                        <a:buNone/>
                      </a:pPr>
                      <a:r>
                        <a:rPr lang="en-IN" sz="1600" dirty="0">
                          <a:latin typeface="Times New Roman" panose="02020603050405020304" pitchFamily="18" charset="0"/>
                          <a:cs typeface="Times New Roman" panose="02020603050405020304" pitchFamily="18" charset="0"/>
                        </a:rPr>
                        <a:t>A. Bello</a:t>
                      </a:r>
                    </a:p>
                  </a:txBody>
                  <a:tcPr marL="30037" marR="30037" marT="15019" marB="15019" anchor="ctr"/>
                </a:tc>
                <a:tc>
                  <a:txBody>
                    <a:bodyPr/>
                    <a:lstStyle/>
                    <a:p>
                      <a:pPr>
                        <a:buNone/>
                      </a:pPr>
                      <a:r>
                        <a:rPr lang="en-IN" sz="1600" dirty="0">
                          <a:latin typeface="Times New Roman" panose="02020603050405020304" pitchFamily="18" charset="0"/>
                          <a:cs typeface="Times New Roman" panose="02020603050405020304" pitchFamily="18" charset="0"/>
                        </a:rPr>
                        <a:t>BERT, CNN, </a:t>
                      </a:r>
                      <a:r>
                        <a:rPr lang="en-IN" sz="1600" dirty="0" err="1">
                          <a:latin typeface="Times New Roman" panose="02020603050405020304" pitchFamily="18" charset="0"/>
                          <a:cs typeface="Times New Roman" panose="02020603050405020304" pitchFamily="18" charset="0"/>
                        </a:rPr>
                        <a:t>BiLSTM</a:t>
                      </a:r>
                      <a:endParaRPr lang="en-IN" sz="1600" dirty="0">
                        <a:latin typeface="Times New Roman" panose="02020603050405020304" pitchFamily="18" charset="0"/>
                        <a:cs typeface="Times New Roman" panose="02020603050405020304" pitchFamily="18" charset="0"/>
                      </a:endParaRPr>
                    </a:p>
                  </a:txBody>
                  <a:tcPr marL="30037" marR="30037" marT="15019" marB="15019" anchor="ctr"/>
                </a:tc>
                <a:tc>
                  <a:txBody>
                    <a:bodyPr/>
                    <a:lstStyle/>
                    <a:p>
                      <a:pPr>
                        <a:buNone/>
                      </a:pPr>
                      <a:r>
                        <a:rPr lang="en-IN" sz="1600" dirty="0">
                          <a:latin typeface="Times New Roman" panose="02020603050405020304" pitchFamily="18" charset="0"/>
                          <a:cs typeface="Times New Roman" panose="02020603050405020304" pitchFamily="18" charset="0"/>
                        </a:rPr>
                        <a:t>High computational resource requirement</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2023</a:t>
                      </a:r>
                    </a:p>
                  </a:txBody>
                  <a:tcPr marL="30037" marR="30037" marT="15019" marB="15019" anchor="ctr"/>
                </a:tc>
                <a:extLst>
                  <a:ext uri="{0D108BD9-81ED-4DB2-BD59-A6C34878D82A}">
                    <a16:rowId xmlns:a16="http://schemas.microsoft.com/office/drawing/2014/main" val="4133917041"/>
                  </a:ext>
                </a:extLst>
              </a:tr>
              <a:tr h="1435959">
                <a:tc>
                  <a:txBody>
                    <a:bodyPr/>
                    <a:lstStyle/>
                    <a:p>
                      <a:pPr>
                        <a:buNone/>
                      </a:pPr>
                      <a:r>
                        <a:rPr lang="en-US" sz="1600" b="0" dirty="0">
                          <a:latin typeface="Times New Roman" panose="02020603050405020304" pitchFamily="18" charset="0"/>
                          <a:cs typeface="Times New Roman" panose="02020603050405020304" pitchFamily="18" charset="0"/>
                        </a:rPr>
                        <a:t>Improving Sentiment Classification Using a </a:t>
                      </a:r>
                      <a:r>
                        <a:rPr lang="en-US" sz="1600" b="0" dirty="0" err="1">
                          <a:latin typeface="Times New Roman" panose="02020603050405020304" pitchFamily="18" charset="0"/>
                          <a:cs typeface="Times New Roman" panose="02020603050405020304" pitchFamily="18" charset="0"/>
                        </a:rPr>
                        <a:t>RoBERTa</a:t>
                      </a:r>
                      <a:r>
                        <a:rPr lang="en-US" sz="1600" b="0" dirty="0">
                          <a:latin typeface="Times New Roman" panose="02020603050405020304" pitchFamily="18" charset="0"/>
                          <a:cs typeface="Times New Roman" panose="02020603050405020304" pitchFamily="18" charset="0"/>
                        </a:rPr>
                        <a:t>-Based Hybrid Model</a:t>
                      </a:r>
                    </a:p>
                  </a:txBody>
                  <a:tcPr marL="30037" marR="30037" marT="15019" marB="15019" anchor="ctr"/>
                </a:tc>
                <a:tc>
                  <a:txBody>
                    <a:bodyPr/>
                    <a:lstStyle/>
                    <a:p>
                      <a:pPr>
                        <a:buNone/>
                      </a:pPr>
                      <a:r>
                        <a:rPr lang="fr-FR" sz="1600" b="0" dirty="0">
                          <a:latin typeface="Times New Roman" panose="02020603050405020304" pitchFamily="18" charset="0"/>
                          <a:cs typeface="Times New Roman" panose="02020603050405020304" pitchFamily="18" charset="0"/>
                        </a:rPr>
                        <a:t>N. A. </a:t>
                      </a:r>
                      <a:r>
                        <a:rPr lang="fr-FR" sz="1600" b="0" dirty="0" err="1">
                          <a:latin typeface="Times New Roman" panose="02020603050405020304" pitchFamily="18" charset="0"/>
                          <a:cs typeface="Times New Roman" panose="02020603050405020304" pitchFamily="18" charset="0"/>
                        </a:rPr>
                        <a:t>Semary</a:t>
                      </a:r>
                      <a:r>
                        <a:rPr lang="fr-FR" sz="1600" b="0" dirty="0">
                          <a:latin typeface="Times New Roman" panose="02020603050405020304" pitchFamily="18" charset="0"/>
                          <a:cs typeface="Times New Roman" panose="02020603050405020304" pitchFamily="18" charset="0"/>
                        </a:rPr>
                        <a:t> et al.</a:t>
                      </a:r>
                    </a:p>
                  </a:txBody>
                  <a:tcPr marL="30037" marR="30037" marT="15019" marB="15019" anchor="ctr"/>
                </a:tc>
                <a:tc>
                  <a:txBody>
                    <a:bodyPr/>
                    <a:lstStyle/>
                    <a:p>
                      <a:pPr>
                        <a:buNone/>
                      </a:pPr>
                      <a:r>
                        <a:rPr lang="en-IN" sz="1600" b="0" dirty="0" err="1">
                          <a:latin typeface="Times New Roman" panose="02020603050405020304" pitchFamily="18" charset="0"/>
                          <a:cs typeface="Times New Roman" panose="02020603050405020304" pitchFamily="18" charset="0"/>
                        </a:rPr>
                        <a:t>RoBERTa</a:t>
                      </a:r>
                      <a:r>
                        <a:rPr lang="en-IN" sz="1600" b="0" dirty="0">
                          <a:latin typeface="Times New Roman" panose="02020603050405020304" pitchFamily="18" charset="0"/>
                          <a:cs typeface="Times New Roman" panose="02020603050405020304" pitchFamily="18" charset="0"/>
                        </a:rPr>
                        <a:t>, LSTM, CNN Hybrid</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Requires large training data</a:t>
                      </a:r>
                    </a:p>
                  </a:txBody>
                  <a:tcPr marL="30037" marR="30037" marT="15019" marB="15019" anchor="ctr"/>
                </a:tc>
                <a:tc>
                  <a:txBody>
                    <a:bodyPr/>
                    <a:lstStyle/>
                    <a:p>
                      <a:pPr>
                        <a:buNone/>
                      </a:pPr>
                      <a:r>
                        <a:rPr lang="en-IN" sz="1600" b="0">
                          <a:latin typeface="Times New Roman" panose="02020603050405020304" pitchFamily="18" charset="0"/>
                          <a:cs typeface="Times New Roman" panose="02020603050405020304" pitchFamily="18" charset="0"/>
                        </a:rPr>
                        <a:t>2023</a:t>
                      </a:r>
                    </a:p>
                  </a:txBody>
                  <a:tcPr marL="30037" marR="30037" marT="15019" marB="15019" anchor="ctr"/>
                </a:tc>
                <a:extLst>
                  <a:ext uri="{0D108BD9-81ED-4DB2-BD59-A6C34878D82A}">
                    <a16:rowId xmlns:a16="http://schemas.microsoft.com/office/drawing/2014/main" val="3264889898"/>
                  </a:ext>
                </a:extLst>
              </a:tr>
              <a:tr h="1435959">
                <a:tc>
                  <a:txBody>
                    <a:bodyPr/>
                    <a:lstStyle/>
                    <a:p>
                      <a:pPr>
                        <a:buNone/>
                      </a:pPr>
                      <a:r>
                        <a:rPr lang="en-US" sz="1600" b="0" dirty="0">
                          <a:latin typeface="Times New Roman" panose="02020603050405020304" pitchFamily="18" charset="0"/>
                          <a:cs typeface="Times New Roman" panose="02020603050405020304" pitchFamily="18" charset="0"/>
                        </a:rPr>
                        <a:t>Sentiment Analysis Based on User Opinions on Twitter Using Machine Learning</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Jorge Cordero, José Bustillos</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TF-IDF, Naïve Bayes, SVM</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Limited contextual understanding</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2022</a:t>
                      </a:r>
                    </a:p>
                  </a:txBody>
                  <a:tcPr marL="30037" marR="30037" marT="15019" marB="15019" anchor="ctr"/>
                </a:tc>
                <a:extLst>
                  <a:ext uri="{0D108BD9-81ED-4DB2-BD59-A6C34878D82A}">
                    <a16:rowId xmlns:a16="http://schemas.microsoft.com/office/drawing/2014/main" val="2396453713"/>
                  </a:ext>
                </a:extLst>
              </a:tr>
              <a:tr h="1087695">
                <a:tc>
                  <a:txBody>
                    <a:bodyPr/>
                    <a:lstStyle/>
                    <a:p>
                      <a:pPr>
                        <a:buNone/>
                      </a:pPr>
                      <a:r>
                        <a:rPr lang="en-US" sz="1600">
                          <a:latin typeface="Times New Roman" panose="02020603050405020304" pitchFamily="18" charset="0"/>
                          <a:cs typeface="Times New Roman" panose="02020603050405020304" pitchFamily="18" charset="0"/>
                        </a:rPr>
                        <a:t>Sentiment Analysis on COVID Tweets Using COVID-Twitter Data</a:t>
                      </a:r>
                    </a:p>
                  </a:txBody>
                  <a:tcPr marL="30037" marR="30037" marT="15019" marB="15019" anchor="ctr"/>
                </a:tc>
                <a:tc>
                  <a:txBody>
                    <a:bodyPr/>
                    <a:lstStyle/>
                    <a:p>
                      <a:pPr>
                        <a:buNone/>
                      </a:pPr>
                      <a:r>
                        <a:rPr lang="da-DK" sz="1600" dirty="0">
                          <a:latin typeface="Times New Roman" panose="02020603050405020304" pitchFamily="18" charset="0"/>
                          <a:cs typeface="Times New Roman" panose="02020603050405020304" pitchFamily="18" charset="0"/>
                        </a:rPr>
                        <a:t>H. Y. Lin et al.</a:t>
                      </a:r>
                    </a:p>
                  </a:txBody>
                  <a:tcPr marL="30037" marR="30037" marT="15019" marB="15019" anchor="ctr"/>
                </a:tc>
                <a:tc>
                  <a:txBody>
                    <a:bodyPr/>
                    <a:lstStyle/>
                    <a:p>
                      <a:pPr>
                        <a:buNone/>
                      </a:pPr>
                      <a:r>
                        <a:rPr lang="en-US" sz="1600" dirty="0">
                          <a:latin typeface="Times New Roman" panose="02020603050405020304" pitchFamily="18" charset="0"/>
                          <a:cs typeface="Times New Roman" panose="02020603050405020304" pitchFamily="18" charset="0"/>
                        </a:rPr>
                        <a:t>Deep Learning, NLP, Text Classification</a:t>
                      </a:r>
                    </a:p>
                  </a:txBody>
                  <a:tcPr marL="30037" marR="30037" marT="15019" marB="15019" anchor="ctr"/>
                </a:tc>
                <a:tc>
                  <a:txBody>
                    <a:bodyPr/>
                    <a:lstStyle/>
                    <a:p>
                      <a:pPr>
                        <a:buNone/>
                      </a:pPr>
                      <a:r>
                        <a:rPr lang="en-IN" sz="1600" dirty="0">
                          <a:latin typeface="Times New Roman" panose="02020603050405020304" pitchFamily="18" charset="0"/>
                          <a:cs typeface="Times New Roman" panose="02020603050405020304" pitchFamily="18" charset="0"/>
                        </a:rPr>
                        <a:t>Domain-specific; limited generalization</a:t>
                      </a:r>
                    </a:p>
                  </a:txBody>
                  <a:tcPr marL="30037" marR="30037" marT="15019" marB="15019" anchor="ctr"/>
                </a:tc>
                <a:tc>
                  <a:txBody>
                    <a:bodyPr/>
                    <a:lstStyle/>
                    <a:p>
                      <a:pPr>
                        <a:buNone/>
                      </a:pPr>
                      <a:r>
                        <a:rPr lang="en-IN" sz="1600" b="0" dirty="0">
                          <a:latin typeface="Times New Roman" panose="02020603050405020304" pitchFamily="18" charset="0"/>
                          <a:cs typeface="Times New Roman" panose="02020603050405020304" pitchFamily="18" charset="0"/>
                        </a:rPr>
                        <a:t>2021</a:t>
                      </a:r>
                    </a:p>
                  </a:txBody>
                  <a:tcPr marL="30037" marR="30037" marT="15019" marB="15019" anchor="ctr"/>
                </a:tc>
                <a:extLst>
                  <a:ext uri="{0D108BD9-81ED-4DB2-BD59-A6C34878D82A}">
                    <a16:rowId xmlns:a16="http://schemas.microsoft.com/office/drawing/2014/main" val="1238786819"/>
                  </a:ext>
                </a:extLst>
              </a:tr>
            </a:tbl>
          </a:graphicData>
        </a:graphic>
      </p:graphicFrame>
    </p:spTree>
    <p:extLst>
      <p:ext uri="{BB962C8B-B14F-4D97-AF65-F5344CB8AC3E}">
        <p14:creationId xmlns:p14="http://schemas.microsoft.com/office/powerpoint/2010/main" val="2358941094"/>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60C65-03A2-FFF3-6677-48E2BF580233}"/>
              </a:ext>
            </a:extLst>
          </p:cNvPr>
          <p:cNvSpPr>
            <a:spLocks noGrp="1"/>
          </p:cNvSpPr>
          <p:nvPr>
            <p:ph type="title"/>
          </p:nvPr>
        </p:nvSpPr>
        <p:spPr>
          <a:xfrm>
            <a:off x="195261" y="266699"/>
            <a:ext cx="10515600" cy="819151"/>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PROPOSED SYSTEM </a:t>
            </a:r>
          </a:p>
        </p:txBody>
      </p:sp>
      <p:sp>
        <p:nvSpPr>
          <p:cNvPr id="3" name="Content Placeholder 2">
            <a:extLst>
              <a:ext uri="{FF2B5EF4-FFF2-40B4-BE49-F238E27FC236}">
                <a16:creationId xmlns:a16="http://schemas.microsoft.com/office/drawing/2014/main" id="{9BD5EA72-198F-7AF0-FDA5-7C073666D0E9}"/>
              </a:ext>
            </a:extLst>
          </p:cNvPr>
          <p:cNvSpPr>
            <a:spLocks noGrp="1"/>
          </p:cNvSpPr>
          <p:nvPr>
            <p:ph idx="1"/>
          </p:nvPr>
        </p:nvSpPr>
        <p:spPr>
          <a:xfrm>
            <a:off x="195261" y="1228724"/>
            <a:ext cx="10944225" cy="5629275"/>
          </a:xfrm>
        </p:spPr>
        <p:txBody>
          <a:bodyPr>
            <a:noAutofit/>
          </a:bodyPr>
          <a:lstStyle/>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proposed system introduces an advanced and automated sentiment analysis framework designed to handle large-scale Twitter data efficiently. It improves sentiment detection by incorporating contextual understanding and modern natural language processing techniques.</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The system performs enhanced preprocessing including emoji handling, slang normalization, and advanced text cleaning to improve data quality and representation.</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Instead of relying only on traditional models, the proposed system utilizes deep learning approaches such as Long Short-Term Memory, Convolutional Neural Network, and transformer-based models like BERT for better contextual understanding.</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As a result, the proposed system achieves higher accuracy, improved context awareness, and better handling of sarcasm, emojis, and informal social media language, making it suitable for real-time sentiment analysis applications.</a:t>
            </a:r>
          </a:p>
          <a:p>
            <a:pPr algn="just">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4613893"/>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3EF4B-7C81-D953-C9B2-0E4195FDC5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9B955-E6A0-29B6-3401-0F5AFFDCDB94}"/>
              </a:ext>
            </a:extLst>
          </p:cNvPr>
          <p:cNvSpPr txBox="1">
            <a:spLocks/>
          </p:cNvSpPr>
          <p:nvPr/>
        </p:nvSpPr>
        <p:spPr>
          <a:xfrm>
            <a:off x="677334" y="657225"/>
            <a:ext cx="8596668" cy="615949"/>
          </a:xfrm>
          <a:prstGeom prst="rect">
            <a:avLst/>
          </a:prstGeom>
        </p:spPr>
        <p:txBody>
          <a:bodyPr vert="horz" lIns="91440" tIns="45720" rIns="91440" bIns="45720" rtlCol="0" anchor="b">
            <a:normAutofit lnSpcReduction="10000"/>
          </a:bodyPr>
          <a:lstStyle>
            <a:lvl1pPr algn="ctr" defTabSz="914400" rtl="0" eaLnBrk="1" latinLnBrk="0" hangingPunct="1">
              <a:lnSpc>
                <a:spcPct val="100000"/>
              </a:lnSpc>
              <a:spcBef>
                <a:spcPct val="0"/>
              </a:spcBef>
              <a:buNone/>
              <a:defRPr sz="6000" kern="1200">
                <a:solidFill>
                  <a:schemeClr val="tx2"/>
                </a:solidFill>
                <a:latin typeface="+mj-lt"/>
                <a:ea typeface="+mj-ea"/>
                <a:cs typeface="+mj-cs"/>
              </a:defRPr>
            </a:lvl1pPr>
          </a:lstStyle>
          <a:p>
            <a:pPr algn="l"/>
            <a:r>
              <a:rPr lang="en-IN" sz="3600" dirty="0">
                <a:solidFill>
                  <a:srgbClr val="000000"/>
                </a:solidFill>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B9EF5497-7BC5-B0A3-5198-49A7CBF894A5}"/>
              </a:ext>
            </a:extLst>
          </p:cNvPr>
          <p:cNvSpPr txBox="1">
            <a:spLocks/>
          </p:cNvSpPr>
          <p:nvPr/>
        </p:nvSpPr>
        <p:spPr>
          <a:xfrm>
            <a:off x="677334" y="1714500"/>
            <a:ext cx="10995554" cy="4355437"/>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1000"/>
              </a:spcBef>
              <a:buClr>
                <a:schemeClr val="accent5"/>
              </a:buClr>
              <a:buFont typeface="Avenir Next LT Pro" panose="020B05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Clr>
                <a:schemeClr val="accent5"/>
              </a:buClr>
              <a:buFont typeface="Avenir Next LT Pro" panose="020B05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Real-Time Insights:  </a:t>
            </a:r>
            <a:r>
              <a:rPr lang="en-US" sz="1800" dirty="0">
                <a:latin typeface="Times New Roman" panose="02020603050405020304" pitchFamily="18" charset="0"/>
                <a:cs typeface="Times New Roman" panose="02020603050405020304" pitchFamily="18" charset="0"/>
              </a:rPr>
              <a:t>Twitter provides instant public reactions to events, products, policies, and news.</a:t>
            </a:r>
          </a:p>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Large Volume of Data:  </a:t>
            </a:r>
            <a:r>
              <a:rPr lang="en-US" sz="1800" dirty="0">
                <a:latin typeface="Times New Roman" panose="02020603050405020304" pitchFamily="18" charset="0"/>
                <a:cs typeface="Times New Roman" panose="02020603050405020304" pitchFamily="18" charset="0"/>
              </a:rPr>
              <a:t>Millions of tweets are generated daily, offering a rich source of opinion data.</a:t>
            </a:r>
          </a:p>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Cost-Effective Data Collection:</a:t>
            </a:r>
            <a:r>
              <a:rPr lang="en-US" sz="1800" dirty="0">
                <a:latin typeface="Times New Roman" panose="02020603050405020304" pitchFamily="18" charset="0"/>
                <a:cs typeface="Times New Roman" panose="02020603050405020304" pitchFamily="18" charset="0"/>
              </a:rPr>
              <a:t> Data can be collected using APIs without conducting expensive surveys.</a:t>
            </a:r>
          </a:p>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Public Opinion Monitoring: </a:t>
            </a:r>
            <a:r>
              <a:rPr lang="en-US" sz="1800" dirty="0">
                <a:latin typeface="Times New Roman" panose="02020603050405020304" pitchFamily="18" charset="0"/>
                <a:cs typeface="Times New Roman" panose="02020603050405020304" pitchFamily="18" charset="0"/>
              </a:rPr>
              <a:t>Helps track public perception about political leaders, government decisions, and social issues.</a:t>
            </a:r>
          </a:p>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Brand and Product Analysis: </a:t>
            </a:r>
            <a:r>
              <a:rPr lang="en-US" sz="1800" dirty="0">
                <a:latin typeface="Times New Roman" panose="02020603050405020304" pitchFamily="18" charset="0"/>
                <a:cs typeface="Times New Roman" panose="02020603050405020304" pitchFamily="18" charset="0"/>
              </a:rPr>
              <a:t>Companies can evaluate customer satisfaction and improve services based on feedback.</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691567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AD180-1A55-E443-DAF9-FD874ED728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F1A3D5-E25D-6033-62EB-926FF331F1CC}"/>
              </a:ext>
            </a:extLst>
          </p:cNvPr>
          <p:cNvSpPr txBox="1">
            <a:spLocks/>
          </p:cNvSpPr>
          <p:nvPr/>
        </p:nvSpPr>
        <p:spPr>
          <a:xfrm>
            <a:off x="794074" y="825886"/>
            <a:ext cx="10297885" cy="640445"/>
          </a:xfrm>
          <a:prstGeom prst="rect">
            <a:avLst/>
          </a:prstGeom>
        </p:spPr>
        <p:txBody>
          <a:bodyPr vert="horz" lIns="91440" tIns="45720" rIns="91440" bIns="45720" rtlCol="0" anchor="b">
            <a:normAutofit/>
          </a:bodyPr>
          <a:lstStyle>
            <a:lvl1pPr algn="ctr" defTabSz="914400" rtl="0" eaLnBrk="1" latinLnBrk="0" hangingPunct="1">
              <a:lnSpc>
                <a:spcPct val="100000"/>
              </a:lnSpc>
              <a:spcBef>
                <a:spcPct val="0"/>
              </a:spcBef>
              <a:buNone/>
              <a:defRPr sz="6000" kern="1200">
                <a:solidFill>
                  <a:schemeClr val="tx2"/>
                </a:solidFill>
                <a:latin typeface="+mj-lt"/>
                <a:ea typeface="+mj-ea"/>
                <a:cs typeface="+mj-cs"/>
              </a:defRPr>
            </a:lvl1pPr>
          </a:lstStyle>
          <a:p>
            <a:pPr algn="l"/>
            <a:r>
              <a:rPr lang="en-US" sz="3600" dirty="0">
                <a:solidFill>
                  <a:srgbClr val="000000"/>
                </a:solidFill>
                <a:latin typeface="Times New Roman" panose="02020603050405020304" pitchFamily="18" charset="0"/>
                <a:cs typeface="Times New Roman" panose="02020603050405020304" pitchFamily="18" charset="0"/>
              </a:rPr>
              <a:t>HARDWARE REQUIREMENTS</a:t>
            </a:r>
            <a:endParaRPr lang="en-IN" sz="36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F5C84C-E444-517A-5336-F8BE54021B00}"/>
              </a:ext>
            </a:extLst>
          </p:cNvPr>
          <p:cNvSpPr txBox="1">
            <a:spLocks/>
          </p:cNvSpPr>
          <p:nvPr/>
        </p:nvSpPr>
        <p:spPr>
          <a:xfrm>
            <a:off x="1029628" y="1932878"/>
            <a:ext cx="9798205" cy="3899210"/>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1000"/>
              </a:spcBef>
              <a:buClr>
                <a:schemeClr val="accent5"/>
              </a:buClr>
              <a:buFont typeface="Avenir Next LT Pro" panose="020B05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Clr>
                <a:schemeClr val="accent5"/>
              </a:buClr>
              <a:buFont typeface="Avenir Next LT Pro" panose="020B05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Processor: Intel Core i5 / AMD </a:t>
            </a:r>
            <a:r>
              <a:rPr lang="en-IN" sz="1800" dirty="0" err="1">
                <a:latin typeface="Times New Roman" panose="02020603050405020304" pitchFamily="18" charset="0"/>
                <a:cs typeface="Times New Roman" panose="02020603050405020304" pitchFamily="18" charset="0"/>
              </a:rPr>
              <a:t>Ryzen</a:t>
            </a:r>
            <a:r>
              <a:rPr lang="en-IN" sz="1800" dirty="0">
                <a:latin typeface="Times New Roman" panose="02020603050405020304" pitchFamily="18" charset="0"/>
                <a:cs typeface="Times New Roman" panose="02020603050405020304" pitchFamily="18" charset="0"/>
              </a:rPr>
              <a:t> 5 (multi-core)</a:t>
            </a:r>
          </a:p>
          <a:p>
            <a:pPr marL="342900" indent="-342900" algn="l">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RAM: 8 GB</a:t>
            </a:r>
          </a:p>
          <a:p>
            <a:pPr marL="342900" indent="-342900" algn="l">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Storage: 512 GB SSD</a:t>
            </a:r>
          </a:p>
          <a:p>
            <a:pPr marL="342900" indent="-34290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Network: Stable internet connection for accessing Twitter API and downloading datasets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204707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3DA3B-9D1A-E58F-4D9C-B5C89CA54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A077E-FAC6-4148-8884-A89F93422501}"/>
              </a:ext>
            </a:extLst>
          </p:cNvPr>
          <p:cNvSpPr txBox="1">
            <a:spLocks/>
          </p:cNvSpPr>
          <p:nvPr/>
        </p:nvSpPr>
        <p:spPr>
          <a:xfrm>
            <a:off x="892950" y="842962"/>
            <a:ext cx="10547349" cy="595196"/>
          </a:xfrm>
          <a:prstGeom prst="rect">
            <a:avLst/>
          </a:prstGeom>
        </p:spPr>
        <p:txBody>
          <a:bodyPr vert="horz" lIns="91440" tIns="45720" rIns="91440" bIns="45720" rtlCol="0" anchor="b">
            <a:normAutofit lnSpcReduction="10000"/>
          </a:bodyPr>
          <a:lstStyle>
            <a:lvl1pPr algn="ctr" defTabSz="914400" rtl="0" eaLnBrk="1" latinLnBrk="0" hangingPunct="1">
              <a:lnSpc>
                <a:spcPct val="100000"/>
              </a:lnSpc>
              <a:spcBef>
                <a:spcPct val="0"/>
              </a:spcBef>
              <a:buNone/>
              <a:defRPr sz="6000" kern="1200">
                <a:solidFill>
                  <a:schemeClr val="tx2"/>
                </a:solidFill>
                <a:latin typeface="+mj-lt"/>
                <a:ea typeface="+mj-ea"/>
                <a:cs typeface="+mj-cs"/>
              </a:defRPr>
            </a:lvl1pPr>
          </a:lstStyle>
          <a:p>
            <a:pPr algn="l"/>
            <a:r>
              <a:rPr lang="en-IN" sz="3600" dirty="0">
                <a:solidFill>
                  <a:srgbClr val="000000"/>
                </a:solidFill>
                <a:latin typeface="Times New Roman" panose="02020603050405020304" pitchFamily="18" charset="0"/>
                <a:cs typeface="Times New Roman" panose="02020603050405020304" pitchFamily="18" charset="0"/>
              </a:rPr>
              <a:t>SOFTWARE REQUIREMENTS</a:t>
            </a:r>
          </a:p>
        </p:txBody>
      </p:sp>
      <p:sp>
        <p:nvSpPr>
          <p:cNvPr id="3" name="Content Placeholder 2">
            <a:extLst>
              <a:ext uri="{FF2B5EF4-FFF2-40B4-BE49-F238E27FC236}">
                <a16:creationId xmlns:a16="http://schemas.microsoft.com/office/drawing/2014/main" id="{45D5985C-E395-8EF6-28F1-E36A35FD9F40}"/>
              </a:ext>
            </a:extLst>
          </p:cNvPr>
          <p:cNvSpPr txBox="1">
            <a:spLocks/>
          </p:cNvSpPr>
          <p:nvPr/>
        </p:nvSpPr>
        <p:spPr>
          <a:xfrm>
            <a:off x="1206460" y="1665250"/>
            <a:ext cx="9920331" cy="4501734"/>
          </a:xfrm>
          <a:prstGeom prst="rect">
            <a:avLst/>
          </a:prstGeom>
        </p:spPr>
        <p:txBody>
          <a:bodyPr vert="horz" lIns="91440" tIns="45720" rIns="91440" bIns="45720" rtlCol="0">
            <a:noAutofit/>
          </a:bodyPr>
          <a:lstStyle>
            <a:lvl1pPr marL="0" indent="0" algn="ctr" defTabSz="914400" rtl="0" eaLnBrk="1" latinLnBrk="0" hangingPunct="1">
              <a:lnSpc>
                <a:spcPct val="110000"/>
              </a:lnSpc>
              <a:spcBef>
                <a:spcPts val="1000"/>
              </a:spcBef>
              <a:buClr>
                <a:schemeClr val="accent5"/>
              </a:buClr>
              <a:buFont typeface="Avenir Next LT Pro" panose="020B05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Clr>
                <a:schemeClr val="accent5"/>
              </a:buClr>
              <a:buFont typeface="Avenir Next LT Pro" panose="020B05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Operating System: Windows 10/11, Linux, or macOS</a:t>
            </a:r>
          </a:p>
          <a:p>
            <a:pPr marL="342900" indent="-34290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Programming Language: Python 3.x</a:t>
            </a:r>
          </a:p>
          <a:p>
            <a:pPr marL="342900" indent="-34290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Development Tool: </a:t>
            </a:r>
            <a:r>
              <a:rPr lang="en-IN" sz="1800" dirty="0" err="1">
                <a:latin typeface="Times New Roman" panose="02020603050405020304" pitchFamily="18" charset="0"/>
                <a:cs typeface="Times New Roman" panose="02020603050405020304" pitchFamily="18" charset="0"/>
              </a:rPr>
              <a:t>Jupyter</a:t>
            </a:r>
            <a:r>
              <a:rPr lang="en-IN" sz="1800" dirty="0">
                <a:latin typeface="Times New Roman" panose="02020603050405020304" pitchFamily="18" charset="0"/>
                <a:cs typeface="Times New Roman" panose="02020603050405020304" pitchFamily="18" charset="0"/>
              </a:rPr>
              <a:t> Notebook / VS Code / PyCharm</a:t>
            </a:r>
          </a:p>
          <a:p>
            <a:pPr marL="342900" indent="-34290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Libraries: NumPy, Pandas, Matplotlib, Scikit-learn</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376166"/>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D6CFBA-64DE-E676-A3DB-0279A6D7754E}"/>
              </a:ext>
            </a:extLst>
          </p:cNvPr>
          <p:cNvSpPr txBox="1"/>
          <p:nvPr/>
        </p:nvSpPr>
        <p:spPr>
          <a:xfrm>
            <a:off x="921513" y="391600"/>
            <a:ext cx="7193787"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SYSTEM ARCHITECTURE</a:t>
            </a:r>
          </a:p>
        </p:txBody>
      </p:sp>
      <p:pic>
        <p:nvPicPr>
          <p:cNvPr id="4" name="Picture 3">
            <a:extLst>
              <a:ext uri="{FF2B5EF4-FFF2-40B4-BE49-F238E27FC236}">
                <a16:creationId xmlns:a16="http://schemas.microsoft.com/office/drawing/2014/main" id="{D29BB721-74B2-4BCC-0A1F-730E9187C08D}"/>
              </a:ext>
            </a:extLst>
          </p:cNvPr>
          <p:cNvPicPr>
            <a:picLocks noChangeAspect="1"/>
          </p:cNvPicPr>
          <p:nvPr/>
        </p:nvPicPr>
        <p:blipFill>
          <a:blip r:embed="rId2"/>
          <a:stretch>
            <a:fillRect/>
          </a:stretch>
        </p:blipFill>
        <p:spPr>
          <a:xfrm>
            <a:off x="2531282" y="1227354"/>
            <a:ext cx="6868356" cy="5047872"/>
          </a:xfrm>
          <a:prstGeom prst="rect">
            <a:avLst/>
          </a:prstGeom>
        </p:spPr>
      </p:pic>
    </p:spTree>
    <p:extLst>
      <p:ext uri="{BB962C8B-B14F-4D97-AF65-F5344CB8AC3E}">
        <p14:creationId xmlns:p14="http://schemas.microsoft.com/office/powerpoint/2010/main" val="69597709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35CBA-58BA-4433-4535-BF7CA4B562C1}"/>
              </a:ext>
            </a:extLst>
          </p:cNvPr>
          <p:cNvSpPr>
            <a:spLocks noGrp="1"/>
          </p:cNvSpPr>
          <p:nvPr>
            <p:ph type="title"/>
          </p:nvPr>
        </p:nvSpPr>
        <p:spPr>
          <a:xfrm>
            <a:off x="949427" y="816642"/>
            <a:ext cx="6516329" cy="775416"/>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DESIGN (UML DIAGRAMS)</a:t>
            </a:r>
          </a:p>
        </p:txBody>
      </p:sp>
      <p:sp>
        <p:nvSpPr>
          <p:cNvPr id="4" name="TextBox 3">
            <a:extLst>
              <a:ext uri="{FF2B5EF4-FFF2-40B4-BE49-F238E27FC236}">
                <a16:creationId xmlns:a16="http://schemas.microsoft.com/office/drawing/2014/main" id="{0F93F8CB-F539-BC5A-C382-5DD330B1BFFC}"/>
              </a:ext>
            </a:extLst>
          </p:cNvPr>
          <p:cNvSpPr txBox="1"/>
          <p:nvPr/>
        </p:nvSpPr>
        <p:spPr>
          <a:xfrm>
            <a:off x="1828799" y="1897626"/>
            <a:ext cx="4267201" cy="224510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Use Case Diagram</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Class</a:t>
            </a:r>
            <a:r>
              <a:rPr lang="en-US" altLang="en-US" sz="2400" dirty="0">
                <a:latin typeface="Times New Roman" panose="02020603050405020304" pitchFamily="18" charset="0"/>
                <a:cs typeface="Times New Roman" panose="02020603050405020304" pitchFamily="18" charset="0"/>
              </a:rPr>
              <a:t> Diagram</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Sequence Diagram</a:t>
            </a:r>
            <a:endParaRPr lang="en-IN" alt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Activity</a:t>
            </a:r>
            <a:r>
              <a:rPr lang="en-IN" sz="2400" dirty="0">
                <a:latin typeface="Times New Roman" panose="02020603050405020304" pitchFamily="18" charset="0"/>
                <a:cs typeface="Times New Roman" panose="02020603050405020304" pitchFamily="18" charset="0"/>
              </a:rPr>
              <a:t> Diagram</a:t>
            </a:r>
            <a:endParaRPr lang="en-IN" sz="2400" dirty="0"/>
          </a:p>
        </p:txBody>
      </p:sp>
    </p:spTree>
    <p:extLst>
      <p:ext uri="{BB962C8B-B14F-4D97-AF65-F5344CB8AC3E}">
        <p14:creationId xmlns:p14="http://schemas.microsoft.com/office/powerpoint/2010/main" val="115380756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58B86-C991-24AC-0ED8-B70DEF01D513}"/>
              </a:ext>
            </a:extLst>
          </p:cNvPr>
          <p:cNvSpPr>
            <a:spLocks noGrp="1"/>
          </p:cNvSpPr>
          <p:nvPr>
            <p:ph type="title"/>
          </p:nvPr>
        </p:nvSpPr>
        <p:spPr>
          <a:xfrm>
            <a:off x="838200" y="365126"/>
            <a:ext cx="6644148" cy="873740"/>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USE CASE DIAGRAM</a:t>
            </a:r>
          </a:p>
        </p:txBody>
      </p:sp>
      <p:pic>
        <p:nvPicPr>
          <p:cNvPr id="7" name="Picture 6">
            <a:extLst>
              <a:ext uri="{FF2B5EF4-FFF2-40B4-BE49-F238E27FC236}">
                <a16:creationId xmlns:a16="http://schemas.microsoft.com/office/drawing/2014/main" id="{627BC444-D4D5-096F-B36C-B98972EFCA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437" y="1238866"/>
            <a:ext cx="8324850" cy="5619134"/>
          </a:xfrm>
          <a:prstGeom prst="rect">
            <a:avLst/>
          </a:prstGeom>
        </p:spPr>
      </p:pic>
    </p:spTree>
    <p:extLst>
      <p:ext uri="{BB962C8B-B14F-4D97-AF65-F5344CB8AC3E}">
        <p14:creationId xmlns:p14="http://schemas.microsoft.com/office/powerpoint/2010/main" val="3166862924"/>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3480A-613A-C104-235C-F7244BA069B2}"/>
              </a:ext>
            </a:extLst>
          </p:cNvPr>
          <p:cNvSpPr>
            <a:spLocks noGrp="1"/>
          </p:cNvSpPr>
          <p:nvPr>
            <p:ph type="title"/>
          </p:nvPr>
        </p:nvSpPr>
        <p:spPr>
          <a:xfrm>
            <a:off x="419100" y="250825"/>
            <a:ext cx="8640097" cy="608269"/>
          </a:xfrm>
        </p:spPr>
        <p:txBody>
          <a:bodyPr>
            <a:noAutofit/>
          </a:bodyPr>
          <a:lstStyle/>
          <a:p>
            <a:r>
              <a:rPr lang="en-IN" sz="3600" dirty="0">
                <a:solidFill>
                  <a:schemeClr val="tx1"/>
                </a:solidFill>
                <a:latin typeface="Times New Roman" panose="02020603050405020304" pitchFamily="18" charset="0"/>
                <a:cs typeface="Times New Roman" panose="02020603050405020304" pitchFamily="18" charset="0"/>
              </a:rPr>
              <a:t>CLASS DIAGRAM</a:t>
            </a:r>
          </a:p>
        </p:txBody>
      </p:sp>
      <p:pic>
        <p:nvPicPr>
          <p:cNvPr id="5" name="Picture 4">
            <a:extLst>
              <a:ext uri="{FF2B5EF4-FFF2-40B4-BE49-F238E27FC236}">
                <a16:creationId xmlns:a16="http://schemas.microsoft.com/office/drawing/2014/main" id="{D18EAFFB-A227-7C0C-1BFC-3AB695CDD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230569"/>
            <a:ext cx="10287000" cy="5055931"/>
          </a:xfrm>
          <a:prstGeom prst="rect">
            <a:avLst/>
          </a:prstGeom>
        </p:spPr>
      </p:pic>
    </p:spTree>
    <p:extLst>
      <p:ext uri="{BB962C8B-B14F-4D97-AF65-F5344CB8AC3E}">
        <p14:creationId xmlns:p14="http://schemas.microsoft.com/office/powerpoint/2010/main" val="3682689523"/>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7D929-4336-F7F1-EA27-55F3E7490818}"/>
              </a:ext>
            </a:extLst>
          </p:cNvPr>
          <p:cNvSpPr>
            <a:spLocks noGrp="1"/>
          </p:cNvSpPr>
          <p:nvPr>
            <p:ph type="title"/>
          </p:nvPr>
        </p:nvSpPr>
        <p:spPr>
          <a:xfrm>
            <a:off x="838200" y="365126"/>
            <a:ext cx="6398342" cy="804914"/>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ACTIVITY DIAGRAM</a:t>
            </a:r>
          </a:p>
        </p:txBody>
      </p:sp>
      <p:pic>
        <p:nvPicPr>
          <p:cNvPr id="5" name="Picture 4">
            <a:extLst>
              <a:ext uri="{FF2B5EF4-FFF2-40B4-BE49-F238E27FC236}">
                <a16:creationId xmlns:a16="http://schemas.microsoft.com/office/drawing/2014/main" id="{153E2950-391D-06AC-1D02-5D4A85077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9308" y="1055740"/>
            <a:ext cx="6573384" cy="5240592"/>
          </a:xfrm>
          <a:prstGeom prst="rect">
            <a:avLst/>
          </a:prstGeom>
        </p:spPr>
      </p:pic>
    </p:spTree>
    <p:extLst>
      <p:ext uri="{BB962C8B-B14F-4D97-AF65-F5344CB8AC3E}">
        <p14:creationId xmlns:p14="http://schemas.microsoft.com/office/powerpoint/2010/main" val="164515318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9FE4-CE9E-32B5-6E57-BEFAA8F31666}"/>
              </a:ext>
            </a:extLst>
          </p:cNvPr>
          <p:cNvSpPr>
            <a:spLocks noGrp="1"/>
          </p:cNvSpPr>
          <p:nvPr>
            <p:ph type="title"/>
          </p:nvPr>
        </p:nvSpPr>
        <p:spPr>
          <a:xfrm>
            <a:off x="838200" y="365125"/>
            <a:ext cx="6231194" cy="686927"/>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446CCA8E-82B7-A64E-8C06-061D2932A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2323" y="1465006"/>
            <a:ext cx="8544232" cy="4670323"/>
          </a:xfrm>
          <a:prstGeom prst="rect">
            <a:avLst/>
          </a:prstGeom>
        </p:spPr>
      </p:pic>
    </p:spTree>
    <p:extLst>
      <p:ext uri="{BB962C8B-B14F-4D97-AF65-F5344CB8AC3E}">
        <p14:creationId xmlns:p14="http://schemas.microsoft.com/office/powerpoint/2010/main" val="4141737759"/>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BD604-1157-3306-446A-28B9226D5BA4}"/>
              </a:ext>
            </a:extLst>
          </p:cNvPr>
          <p:cNvSpPr>
            <a:spLocks noGrp="1"/>
          </p:cNvSpPr>
          <p:nvPr>
            <p:ph type="title"/>
          </p:nvPr>
        </p:nvSpPr>
        <p:spPr>
          <a:xfrm>
            <a:off x="295275" y="422275"/>
            <a:ext cx="10515600" cy="835025"/>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OUTPUT SCREENS</a:t>
            </a:r>
          </a:p>
        </p:txBody>
      </p:sp>
      <p:pic>
        <p:nvPicPr>
          <p:cNvPr id="4" name="Content Placeholder 4">
            <a:extLst>
              <a:ext uri="{FF2B5EF4-FFF2-40B4-BE49-F238E27FC236}">
                <a16:creationId xmlns:a16="http://schemas.microsoft.com/office/drawing/2014/main" id="{62A384CE-44E6-2B41-758A-EBAEB6E0BB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7450" y="1457325"/>
            <a:ext cx="7329487" cy="4978399"/>
          </a:xfrm>
          <a:prstGeom prst="rect">
            <a:avLst/>
          </a:prstGeom>
        </p:spPr>
      </p:pic>
    </p:spTree>
    <p:extLst>
      <p:ext uri="{BB962C8B-B14F-4D97-AF65-F5344CB8AC3E}">
        <p14:creationId xmlns:p14="http://schemas.microsoft.com/office/powerpoint/2010/main" val="258568862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F1925-087E-5DDE-9D70-DF5055B090EA}"/>
              </a:ext>
            </a:extLst>
          </p:cNvPr>
          <p:cNvSpPr>
            <a:spLocks noGrp="1"/>
          </p:cNvSpPr>
          <p:nvPr>
            <p:ph type="title"/>
          </p:nvPr>
        </p:nvSpPr>
        <p:spPr>
          <a:xfrm>
            <a:off x="395288" y="1282700"/>
            <a:ext cx="5436150" cy="4006850"/>
          </a:xfrm>
        </p:spPr>
        <p:txBody>
          <a:bodyPr>
            <a:noAutofit/>
          </a:bodyPr>
          <a:lstStyle/>
          <a:p>
            <a:r>
              <a:rPr lang="fr-FR" sz="3600" dirty="0" err="1">
                <a:latin typeface="Times New Roman" panose="02020603050405020304" pitchFamily="18" charset="0"/>
                <a:cs typeface="Times New Roman" panose="02020603050405020304" pitchFamily="18" charset="0"/>
              </a:rPr>
              <a:t>SubsetDatasetConfusion</a:t>
            </a:r>
            <a:r>
              <a:rPr lang="fr-FR" sz="3600" dirty="0">
                <a:latin typeface="Times New Roman" panose="02020603050405020304" pitchFamily="18" charset="0"/>
                <a:cs typeface="Times New Roman" panose="02020603050405020304" pitchFamily="18" charset="0"/>
              </a:rPr>
              <a:t> Matrix:</a:t>
            </a:r>
            <a:br>
              <a:rPr lang="fr-FR" sz="3600" dirty="0">
                <a:latin typeface="Times New Roman" panose="02020603050405020304" pitchFamily="18" charset="0"/>
                <a:cs typeface="Times New Roman" panose="02020603050405020304" pitchFamily="18" charset="0"/>
              </a:rPr>
            </a:br>
            <a:br>
              <a:rPr lang="fr-FR" sz="3600" dirty="0">
                <a:latin typeface="Times New Roman" panose="02020603050405020304" pitchFamily="18" charset="0"/>
                <a:cs typeface="Times New Roman" panose="02020603050405020304" pitchFamily="18" charset="0"/>
              </a:rPr>
            </a:br>
            <a:r>
              <a:rPr lang="fr-FR" sz="3600" dirty="0">
                <a:latin typeface="Times New Roman" panose="02020603050405020304" pitchFamily="18" charset="0"/>
                <a:cs typeface="Times New Roman" panose="02020603050405020304" pitchFamily="18" charset="0"/>
              </a:rPr>
              <a:t> </a:t>
            </a:r>
            <a:r>
              <a:rPr lang="fr-FR" sz="3200" dirty="0">
                <a:latin typeface="Times New Roman" panose="02020603050405020304" pitchFamily="18" charset="0"/>
                <a:cs typeface="Times New Roman" panose="02020603050405020304" pitchFamily="18" charset="0"/>
              </a:rPr>
              <a:t>[[ 924  106   121   164]</a:t>
            </a:r>
            <a:br>
              <a:rPr lang="fr-FR" sz="3200" dirty="0">
                <a:latin typeface="Times New Roman" panose="02020603050405020304" pitchFamily="18" charset="0"/>
                <a:cs typeface="Times New Roman" panose="02020603050405020304" pitchFamily="18" charset="0"/>
              </a:rPr>
            </a:br>
            <a:r>
              <a:rPr lang="fr-FR" sz="3200" dirty="0">
                <a:latin typeface="Times New Roman" panose="02020603050405020304" pitchFamily="18" charset="0"/>
                <a:cs typeface="Times New Roman" panose="02020603050405020304" pitchFamily="18" charset="0"/>
              </a:rPr>
              <a:t> [  30    1621  84    108] </a:t>
            </a:r>
            <a:br>
              <a:rPr lang="fr-FR" sz="3200" dirty="0">
                <a:latin typeface="Times New Roman" panose="02020603050405020304" pitchFamily="18" charset="0"/>
                <a:cs typeface="Times New Roman" panose="02020603050405020304" pitchFamily="18" charset="0"/>
              </a:rPr>
            </a:br>
            <a:r>
              <a:rPr lang="fr-FR" sz="3200" dirty="0">
                <a:latin typeface="Times New Roman" panose="02020603050405020304" pitchFamily="18" charset="0"/>
                <a:cs typeface="Times New Roman" panose="02020603050405020304" pitchFamily="18" charset="0"/>
              </a:rPr>
              <a:t> [  21    96     1535 173]</a:t>
            </a:r>
            <a:br>
              <a:rPr lang="fr-FR" sz="3200" dirty="0">
                <a:latin typeface="Times New Roman" panose="02020603050405020304" pitchFamily="18" charset="0"/>
                <a:cs typeface="Times New Roman" panose="02020603050405020304" pitchFamily="18" charset="0"/>
              </a:rPr>
            </a:br>
            <a:r>
              <a:rPr lang="fr-FR" sz="3200" dirty="0">
                <a:latin typeface="Times New Roman" panose="02020603050405020304" pitchFamily="18" charset="0"/>
                <a:cs typeface="Times New Roman" panose="02020603050405020304" pitchFamily="18" charset="0"/>
              </a:rPr>
              <a:t> [  32    92     123   1972]]</a:t>
            </a:r>
            <a:endParaRPr lang="en-IN" sz="32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5AC7F0A-2AA4-9BD5-5FFC-09610B119A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59988" y="1400175"/>
            <a:ext cx="5436151" cy="4633912"/>
          </a:xfrm>
          <a:prstGeom prst="rect">
            <a:avLst/>
          </a:prstGeom>
        </p:spPr>
      </p:pic>
    </p:spTree>
    <p:extLst>
      <p:ext uri="{BB962C8B-B14F-4D97-AF65-F5344CB8AC3E}">
        <p14:creationId xmlns:p14="http://schemas.microsoft.com/office/powerpoint/2010/main" val="299897223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4450A-91BA-DB21-C72A-414DBA57216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Full Dataset Classification Report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9A3092-FB1E-E786-C145-D51445491266}"/>
              </a:ext>
            </a:extLst>
          </p:cNvPr>
          <p:cNvSpPr>
            <a:spLocks noGrp="1"/>
          </p:cNvSpPr>
          <p:nvPr>
            <p:ph idx="1"/>
          </p:nvPr>
        </p:nvSpPr>
        <p:spPr>
          <a:xfrm>
            <a:off x="838200" y="1825625"/>
            <a:ext cx="10515600" cy="4832350"/>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                                     precision   recall    f1-score     support </a:t>
            </a:r>
          </a:p>
          <a:p>
            <a:pPr marL="0" indent="0">
              <a:buNone/>
            </a:pPr>
            <a:r>
              <a:rPr lang="en-US" dirty="0">
                <a:latin typeface="Times New Roman" panose="02020603050405020304" pitchFamily="18" charset="0"/>
                <a:cs typeface="Times New Roman" panose="02020603050405020304" pitchFamily="18" charset="0"/>
              </a:rPr>
              <a:t>Irrelevant                       0.94           0.83       0.88           1315</a:t>
            </a:r>
          </a:p>
          <a:p>
            <a:pPr marL="0" indent="0">
              <a:buNone/>
            </a:pPr>
            <a:r>
              <a:rPr lang="en-US" dirty="0">
                <a:latin typeface="Times New Roman" panose="02020603050405020304" pitchFamily="18" charset="0"/>
                <a:cs typeface="Times New Roman" panose="02020603050405020304" pitchFamily="18" charset="0"/>
              </a:rPr>
              <a:t> Negative                       0.92           0.92       0.92           1843 </a:t>
            </a:r>
          </a:p>
          <a:p>
            <a:pPr marL="0" indent="0">
              <a:buNone/>
            </a:pPr>
            <a:r>
              <a:rPr lang="en-US" dirty="0">
                <a:latin typeface="Times New Roman" panose="02020603050405020304" pitchFamily="18" charset="0"/>
                <a:cs typeface="Times New Roman" panose="02020603050405020304" pitchFamily="18" charset="0"/>
              </a:rPr>
              <a:t>Neutral                          0.88            0.91       0.89           1825 </a:t>
            </a:r>
          </a:p>
          <a:p>
            <a:pPr marL="0" indent="0">
              <a:buNone/>
            </a:pPr>
            <a:r>
              <a:rPr lang="en-US" dirty="0">
                <a:latin typeface="Times New Roman" panose="02020603050405020304" pitchFamily="18" charset="0"/>
                <a:cs typeface="Times New Roman" panose="02020603050405020304" pitchFamily="18" charset="0"/>
              </a:rPr>
              <a:t>Positive                         0.89            0.93       0.91            2219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Accuracy                                                        0.90            7202 </a:t>
            </a:r>
          </a:p>
          <a:p>
            <a:pPr marL="0" indent="0">
              <a:buNone/>
            </a:pPr>
            <a:r>
              <a:rPr lang="en-US" dirty="0">
                <a:latin typeface="Times New Roman" panose="02020603050405020304" pitchFamily="18" charset="0"/>
                <a:cs typeface="Times New Roman" panose="02020603050405020304" pitchFamily="18" charset="0"/>
              </a:rPr>
              <a:t>macro avg                    0.91              0.90       0.90            7202</a:t>
            </a:r>
          </a:p>
          <a:p>
            <a:pPr marL="0" indent="0">
              <a:buNone/>
            </a:pPr>
            <a:r>
              <a:rPr lang="en-US" dirty="0">
                <a:latin typeface="Times New Roman" panose="02020603050405020304" pitchFamily="18" charset="0"/>
                <a:cs typeface="Times New Roman" panose="02020603050405020304" pitchFamily="18" charset="0"/>
              </a:rPr>
              <a:t> weighted avg              0.90              0.90       0.90            7202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468369"/>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1B2EB-A5FC-E8C1-D230-5E985124ACB7}"/>
              </a:ext>
            </a:extLst>
          </p:cNvPr>
          <p:cNvSpPr>
            <a:spLocks noGrp="1"/>
          </p:cNvSpPr>
          <p:nvPr>
            <p:ph type="title"/>
          </p:nvPr>
        </p:nvSpPr>
        <p:spPr>
          <a:xfrm>
            <a:off x="495300" y="508000"/>
            <a:ext cx="10515600" cy="835025"/>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77E6158-F90D-0E85-5B8A-3F44A11E6D93}"/>
              </a:ext>
            </a:extLst>
          </p:cNvPr>
          <p:cNvSpPr>
            <a:spLocks noGrp="1"/>
          </p:cNvSpPr>
          <p:nvPr>
            <p:ph idx="1"/>
          </p:nvPr>
        </p:nvSpPr>
        <p:spPr>
          <a:xfrm>
            <a:off x="495300" y="1497012"/>
            <a:ext cx="10515600" cy="4351338"/>
          </a:xfrm>
        </p:spPr>
        <p:txBody>
          <a:bodyPr>
            <a:normAutofit/>
          </a:bodyPr>
          <a:lstStyle/>
          <a:p>
            <a:r>
              <a:rPr lang="en-US" sz="1800" dirty="0">
                <a:latin typeface="Times New Roman" panose="02020603050405020304" pitchFamily="18" charset="0"/>
                <a:cs typeface="Times New Roman" panose="02020603050405020304" pitchFamily="18" charset="0"/>
              </a:rPr>
              <a:t>The project Sentiment Analysis of Twitter Data demonstrates how social media data can be analyzed to understand public opinions and emotions. Twitter generates a huge amount of real-time textual data, making it an important source for sentiment analysis. In this project, tweets were collected and preprocessed by removing noise such as stop words, special characters, URLs, and irrelevant content to improve data quality.</a:t>
            </a:r>
          </a:p>
          <a:p>
            <a:r>
              <a:rPr lang="en-US" sz="1800" dirty="0">
                <a:latin typeface="Times New Roman" panose="02020603050405020304" pitchFamily="18" charset="0"/>
                <a:cs typeface="Times New Roman" panose="02020603050405020304" pitchFamily="18" charset="0"/>
              </a:rPr>
              <a:t>After preprocessing, techniques such as tokenization and TF-IDF feature extraction were applied to convert text data into numerical form. Machine learning algorithms were then used to classify tweets into positive, negative, and neutral sentiments. The results show that automated sentiment analysis can efficiently process large volumes of Twitter data and provide valuable insights about public opinions.</a:t>
            </a:r>
          </a:p>
          <a:p>
            <a:r>
              <a:rPr lang="en-US" sz="1800" dirty="0">
                <a:latin typeface="Times New Roman" panose="02020603050405020304" pitchFamily="18" charset="0"/>
                <a:cs typeface="Times New Roman" panose="02020603050405020304" pitchFamily="18" charset="0"/>
              </a:rPr>
              <a:t>Overall, the proposed system improves sentiment detection by using advanced preprocessing techniques and machine learning models. This system can be useful in areas such as market analysis, brand monitoring, social research, and decision-making by analyzing public sentiment effectively.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5289850"/>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ADDFA-7AC5-6F05-35B9-547B4EB3F589}"/>
              </a:ext>
            </a:extLst>
          </p:cNvPr>
          <p:cNvSpPr>
            <a:spLocks noGrp="1"/>
          </p:cNvSpPr>
          <p:nvPr>
            <p:ph type="title"/>
          </p:nvPr>
        </p:nvSpPr>
        <p:spPr>
          <a:xfrm>
            <a:off x="352425" y="436562"/>
            <a:ext cx="9520238" cy="735013"/>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6F0206AE-517E-B222-D9B4-430005B1FF19}"/>
              </a:ext>
            </a:extLst>
          </p:cNvPr>
          <p:cNvSpPr>
            <a:spLocks noGrp="1"/>
          </p:cNvSpPr>
          <p:nvPr>
            <p:ph idx="1"/>
          </p:nvPr>
        </p:nvSpPr>
        <p:spPr>
          <a:xfrm>
            <a:off x="652463" y="1597025"/>
            <a:ext cx="10515600" cy="4351338"/>
          </a:xfrm>
        </p:spPr>
        <p:txBody>
          <a:bodyPr>
            <a:normAutofit/>
          </a:bodyPr>
          <a:lstStyle/>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system can be improved by using deep learning models such as LSTM, CNN, and Transformer-based models to achieve higher accuracy in sentiment classification.</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Integration with real-time Twitter streaming APIs can allow continuous monitoring of live tweets and instant sentiment analysis.</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model can be enhanced to support multilingual sentiment analysis, enabling analysis of tweets written in different languages.</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Advanced techniques like aspect-based sentiment analysis can be implemented to identify sentiments about specific topics or features.</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Visualization dashboards can be developed to display sentiment trends, graphs, and real-time analytics for better decision-making.</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827975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E36FB6-B691-6B1D-B213-1FE4417DDBA3}"/>
              </a:ext>
            </a:extLst>
          </p:cNvPr>
          <p:cNvSpPr txBox="1"/>
          <p:nvPr/>
        </p:nvSpPr>
        <p:spPr>
          <a:xfrm>
            <a:off x="182972" y="1564111"/>
            <a:ext cx="10766322" cy="4338624"/>
          </a:xfrm>
          <a:prstGeom prst="rect">
            <a:avLst/>
          </a:prstGeom>
          <a:noFill/>
        </p:spPr>
        <p:txBody>
          <a:bodyPr wrap="square">
            <a:spAutoFit/>
          </a:bodyPr>
          <a:lstStyle/>
          <a:p>
            <a:pPr marL="742950" lvl="1" indent="-285750">
              <a:lnSpc>
                <a:spcPct val="150000"/>
              </a:lnSpc>
              <a:spcBef>
                <a:spcPts val="155"/>
              </a:spcBef>
              <a:buSzPts val="1100"/>
              <a:buFont typeface="Calibri" panose="020F0502020204030204" pitchFamily="34" charset="0"/>
              <a:buAutoNum type="arabicPeriod"/>
              <a:tabLst>
                <a:tab pos="559435" algn="l"/>
              </a:tabLst>
            </a:pPr>
            <a:r>
              <a:rPr lang="en-US" dirty="0">
                <a:latin typeface="Times New Roman" panose="02020603050405020304" pitchFamily="18" charset="0"/>
                <a:ea typeface="Calibri" panose="020F0502020204030204" pitchFamily="34" charset="0"/>
                <a:cs typeface="Times New Roman" panose="02020603050405020304" pitchFamily="18" charset="0"/>
              </a:rPr>
              <a:t>Bing Liu, Sentiment Analysis and Opinion Mining, Morgan &amp; Claypool Publishers, 2012.</a:t>
            </a:r>
          </a:p>
          <a:p>
            <a:pPr marL="742950" lvl="1" indent="-285750">
              <a:lnSpc>
                <a:spcPct val="150000"/>
              </a:lnSpc>
              <a:spcBef>
                <a:spcPts val="155"/>
              </a:spcBef>
              <a:buSzPts val="1100"/>
              <a:buFont typeface="Calibri" panose="020F0502020204030204" pitchFamily="34" charset="0"/>
              <a:buAutoNum type="arabicPeriod"/>
              <a:tabLst>
                <a:tab pos="559435" algn="l"/>
              </a:tabLst>
            </a:pPr>
            <a:r>
              <a:rPr lang="en-US" dirty="0">
                <a:latin typeface="Times New Roman" panose="02020603050405020304" pitchFamily="18" charset="0"/>
                <a:ea typeface="Calibri" panose="020F0502020204030204" pitchFamily="34" charset="0"/>
                <a:cs typeface="Times New Roman" panose="02020603050405020304" pitchFamily="18" charset="0"/>
              </a:rPr>
              <a:t>Bo Pang and Lillian Lee, “Opinion Mining and Sentiment Analysis,” Foundations and Trends in Information Retrieval, 2008.</a:t>
            </a:r>
          </a:p>
          <a:p>
            <a:pPr marL="742950" lvl="1" indent="-285750">
              <a:lnSpc>
                <a:spcPct val="150000"/>
              </a:lnSpc>
              <a:spcBef>
                <a:spcPts val="155"/>
              </a:spcBef>
              <a:buSzPts val="1100"/>
              <a:buFont typeface="Calibri" panose="020F0502020204030204" pitchFamily="34" charset="0"/>
              <a:buAutoNum type="arabicPeriod"/>
              <a:tabLst>
                <a:tab pos="559435" algn="l"/>
              </a:tabLst>
            </a:pPr>
            <a:r>
              <a:rPr lang="en-US" dirty="0">
                <a:latin typeface="Times New Roman" panose="02020603050405020304" pitchFamily="18" charset="0"/>
                <a:ea typeface="Calibri" panose="020F0502020204030204" pitchFamily="34" charset="0"/>
                <a:cs typeface="Times New Roman" panose="02020603050405020304" pitchFamily="18" charset="0"/>
              </a:rPr>
              <a:t>Alec Go, Richa Bhayani, and Lei Huang, “Twitter Sentiment Classification using Distant Supervision,” Stanford University, 2009.</a:t>
            </a:r>
          </a:p>
          <a:p>
            <a:pPr marL="742950" lvl="1" indent="-285750">
              <a:lnSpc>
                <a:spcPct val="150000"/>
              </a:lnSpc>
              <a:spcBef>
                <a:spcPts val="155"/>
              </a:spcBef>
              <a:buSzPts val="1100"/>
              <a:buFont typeface="Calibri" panose="020F0502020204030204" pitchFamily="34" charset="0"/>
              <a:buAutoNum type="arabicPeriod"/>
              <a:tabLst>
                <a:tab pos="559435" algn="l"/>
              </a:tabLst>
            </a:pPr>
            <a:r>
              <a:rPr lang="en-US" dirty="0" err="1">
                <a:latin typeface="Times New Roman" panose="02020603050405020304" pitchFamily="18" charset="0"/>
                <a:ea typeface="Calibri" panose="020F0502020204030204" pitchFamily="34" charset="0"/>
                <a:cs typeface="Times New Roman" panose="02020603050405020304" pitchFamily="18" charset="0"/>
              </a:rPr>
              <a:t>Jurafsky</a:t>
            </a:r>
            <a:r>
              <a:rPr lang="en-US" dirty="0">
                <a:latin typeface="Times New Roman" panose="02020603050405020304" pitchFamily="18" charset="0"/>
                <a:ea typeface="Calibri" panose="020F0502020204030204" pitchFamily="34" charset="0"/>
                <a:cs typeface="Times New Roman" panose="02020603050405020304" pitchFamily="18" charset="0"/>
              </a:rPr>
              <a:t>, D., &amp; Martin, J. H., Speech and Language Processing, Pearson Education, 2019.</a:t>
            </a:r>
          </a:p>
          <a:p>
            <a:pPr marL="742950" lvl="1" indent="-285750">
              <a:lnSpc>
                <a:spcPct val="150000"/>
              </a:lnSpc>
              <a:spcBef>
                <a:spcPts val="155"/>
              </a:spcBef>
              <a:buSzPts val="1100"/>
              <a:buFont typeface="Calibri" panose="020F0502020204030204" pitchFamily="34" charset="0"/>
              <a:buAutoNum type="arabicPeriod"/>
              <a:tabLst>
                <a:tab pos="5594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Basics</a:t>
            </a:r>
            <a:r>
              <a:rPr lang="en-US"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Python</a:t>
            </a:r>
            <a:r>
              <a:rPr lang="en-US" spc="-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programming:</a:t>
            </a:r>
            <a:r>
              <a:rPr lang="en-US" spc="-30" dirty="0">
                <a:solidFill>
                  <a:srgbClr val="0462C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u="sng"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https://www.python.org/</a:t>
            </a:r>
            <a:endParaRPr lang="en-IN"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spcBef>
                <a:spcPts val="95"/>
              </a:spcBef>
              <a:buSzPts val="1100"/>
              <a:buFont typeface="Calibri" panose="020F0502020204030204" pitchFamily="34" charset="0"/>
              <a:buAutoNum type="arabicPeriod"/>
              <a:tabLst>
                <a:tab pos="559435"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Dataset:</a:t>
            </a:r>
            <a:r>
              <a:rPr lang="en-US"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pc="-25" dirty="0">
                <a:latin typeface="Times New Roman" panose="02020603050405020304" pitchFamily="18" charset="0"/>
                <a:ea typeface="Calibri" panose="020F0502020204030204" pitchFamily="34" charset="0"/>
                <a:cs typeface="Times New Roman" panose="02020603050405020304" pitchFamily="18" charset="0"/>
              </a:rPr>
              <a:t>Twitter Dataset </a:t>
            </a:r>
            <a:r>
              <a:rPr lang="en-US"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was</a:t>
            </a:r>
            <a:r>
              <a:rPr lang="en-US"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extracted</a:t>
            </a:r>
            <a:r>
              <a:rPr lang="en-US"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from</a:t>
            </a:r>
            <a:r>
              <a:rPr lang="en-US"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Kaggle.</a:t>
            </a:r>
          </a:p>
          <a:p>
            <a:pPr marL="742950" lvl="1" indent="-285750">
              <a:lnSpc>
                <a:spcPct val="150000"/>
              </a:lnSpc>
              <a:spcBef>
                <a:spcPts val="95"/>
              </a:spcBef>
              <a:buSzPts val="1100"/>
              <a:buFont typeface="Calibri" panose="020F0502020204030204" pitchFamily="34" charset="0"/>
              <a:buAutoNum type="arabicPeriod"/>
              <a:tabLst>
                <a:tab pos="559435" algn="l"/>
              </a:tabLst>
            </a:pPr>
            <a:r>
              <a:rPr lang="en-US" spc="-5" dirty="0">
                <a:effectLst/>
                <a:latin typeface="Times New Roman" panose="02020603050405020304" pitchFamily="18" charset="0"/>
                <a:ea typeface="Calibri" panose="020F0502020204030204" pitchFamily="34" charset="0"/>
                <a:cs typeface="Times New Roman" panose="02020603050405020304" pitchFamily="18" charset="0"/>
              </a:rPr>
              <a:t>Natural</a:t>
            </a:r>
            <a:r>
              <a:rPr lang="en-US"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Language</a:t>
            </a:r>
            <a:r>
              <a:rPr lang="en-US"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Toolkit:</a:t>
            </a:r>
            <a:r>
              <a:rPr lang="en-US" spc="-50" dirty="0">
                <a:solidFill>
                  <a:srgbClr val="0462C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u="sng"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https://www.nltk.org/</a:t>
            </a:r>
            <a:endParaRPr lang="en-IN"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spcBef>
                <a:spcPts val="95"/>
              </a:spcBef>
              <a:buSzPts val="1100"/>
              <a:buFont typeface="Calibri" panose="020F0502020204030204" pitchFamily="34" charset="0"/>
              <a:buAutoNum type="arabicPeriod"/>
              <a:tabLst>
                <a:tab pos="559435" algn="l"/>
              </a:tabLst>
            </a:pPr>
            <a:r>
              <a:rPr lang="en-US" spc="-5" dirty="0">
                <a:effectLst/>
                <a:latin typeface="Times New Roman" panose="02020603050405020304" pitchFamily="18" charset="0"/>
                <a:ea typeface="Calibri" panose="020F0502020204030204" pitchFamily="34" charset="0"/>
                <a:cs typeface="Times New Roman" panose="02020603050405020304" pitchFamily="18" charset="0"/>
              </a:rPr>
              <a:t>Random</a:t>
            </a:r>
            <a:r>
              <a:rPr lang="en-US"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pc="-5" dirty="0">
                <a:effectLst/>
                <a:latin typeface="Times New Roman" panose="02020603050405020304" pitchFamily="18" charset="0"/>
                <a:ea typeface="Calibri" panose="020F0502020204030204" pitchFamily="34" charset="0"/>
                <a:cs typeface="Times New Roman" panose="02020603050405020304" pitchFamily="18" charset="0"/>
              </a:rPr>
              <a:t>Forest</a:t>
            </a:r>
            <a:r>
              <a:rPr lang="en-US"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Model:</a:t>
            </a:r>
            <a:r>
              <a:rPr lang="en-US" spc="-40" dirty="0">
                <a:solidFill>
                  <a:srgbClr val="0462C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u="sng"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https://en.wikipedia.org/wiki/Random_forest</a:t>
            </a:r>
            <a:endParaRPr lang="en-IN"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DB803A3-EC4E-6942-CDCE-611DEDEB7C80}"/>
              </a:ext>
            </a:extLst>
          </p:cNvPr>
          <p:cNvSpPr txBox="1"/>
          <p:nvPr/>
        </p:nvSpPr>
        <p:spPr>
          <a:xfrm>
            <a:off x="542311" y="489155"/>
            <a:ext cx="4621162"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9616579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3DAF-9DAC-7225-15CB-481CA516457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218991-ED87-E920-8A4F-E36D6E08C6A5}"/>
              </a:ext>
            </a:extLst>
          </p:cNvPr>
          <p:cNvSpPr/>
          <p:nvPr/>
        </p:nvSpPr>
        <p:spPr>
          <a:xfrm>
            <a:off x="2786063" y="2967335"/>
            <a:ext cx="5986462"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spc="600" dirty="0">
                <a:ln/>
                <a:solidFill>
                  <a:schemeClr val="accent3"/>
                </a:solidFill>
                <a:effectLst>
                  <a:outerShdw blurRad="50800" dist="38100" dir="18900000" algn="bl" rotWithShape="0">
                    <a:prstClr val="black">
                      <a:alpha val="40000"/>
                    </a:prstClr>
                  </a:outerShdw>
                </a:effectLst>
              </a:rPr>
              <a:t>THANK YOU</a:t>
            </a:r>
          </a:p>
        </p:txBody>
      </p:sp>
    </p:spTree>
    <p:extLst>
      <p:ext uri="{BB962C8B-B14F-4D97-AF65-F5344CB8AC3E}">
        <p14:creationId xmlns:p14="http://schemas.microsoft.com/office/powerpoint/2010/main" val="746282871"/>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emplate>Explore</Template>
  <TotalTime>360</TotalTime>
  <Words>1604</Words>
  <Application>Microsoft Office PowerPoint</Application>
  <PresentationFormat>Widescreen</PresentationFormat>
  <Paragraphs>153</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Avenir Next LT Pro</vt:lpstr>
      <vt:lpstr>AvenirNext LT Pro Medium</vt:lpstr>
      <vt:lpstr>Bookman Old Style</vt:lpstr>
      <vt:lpstr>Calibri</vt:lpstr>
      <vt:lpstr>Posterama</vt:lpstr>
      <vt:lpstr>Times New Roman</vt:lpstr>
      <vt:lpstr>Wingdings</vt:lpstr>
      <vt:lpstr>ExploreVTI</vt:lpstr>
      <vt:lpstr>ACE Engineering College </vt:lpstr>
      <vt:lpstr>PowerPoint Presentation</vt:lpstr>
      <vt:lpstr>PowerPoint Presentation</vt:lpstr>
      <vt:lpstr>PowerPoint Presentation</vt:lpstr>
      <vt:lpstr>EXISTING SYSTEM AND ITS LIMITATIONS</vt:lpstr>
      <vt:lpstr>PowerPoint Presentation</vt:lpstr>
      <vt:lpstr>PowerPoint Presentation</vt:lpstr>
      <vt:lpstr>PROPOSED SYSTEM </vt:lpstr>
      <vt:lpstr>PowerPoint Presentation</vt:lpstr>
      <vt:lpstr>PowerPoint Presentation</vt:lpstr>
      <vt:lpstr>PowerPoint Presentation</vt:lpstr>
      <vt:lpstr>PowerPoint Presentation</vt:lpstr>
      <vt:lpstr>DESIGN (UML DIAGRAMS)</vt:lpstr>
      <vt:lpstr>USE CASE DIAGRAM</vt:lpstr>
      <vt:lpstr>CLASS DIAGRAM</vt:lpstr>
      <vt:lpstr>ACTIVITY DIAGRAM</vt:lpstr>
      <vt:lpstr>SEQUENCE DIAGRAM</vt:lpstr>
      <vt:lpstr>OUTPUT SCREENS</vt:lpstr>
      <vt:lpstr>SubsetDatasetConfusion Matrix:   [[ 924  106   121   164]  [  30    1621  84    108]   [  21    96     1535 173]  [  32    92     123   1972]]</vt:lpstr>
      <vt:lpstr>Full Dataset Classification Report</vt:lpstr>
      <vt:lpstr>CONCLUSION</vt:lpstr>
      <vt:lpstr>FUTURE ENHANCEMENTS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muniganamakshitha@gmail.com</dc:creator>
  <cp:lastModifiedBy>muniganamakshitha@gmail.com</cp:lastModifiedBy>
  <cp:revision>15</cp:revision>
  <dcterms:created xsi:type="dcterms:W3CDTF">2026-02-24T06:07:42Z</dcterms:created>
  <dcterms:modified xsi:type="dcterms:W3CDTF">2026-03-10T02:35:55Z</dcterms:modified>
</cp:coreProperties>
</file>